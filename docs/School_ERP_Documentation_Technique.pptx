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7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0.xml"/>
  <Relationship Id="rId17" Type="http://schemas.openxmlformats.org/officeDocument/2006/relationships/slide" Target="slides/slide11.xml"/>
  <Relationship Id="rId18" Type="http://schemas.openxmlformats.org/officeDocument/2006/relationships/slide" Target="slides/slide12.xml"/>
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58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5" name="Pied - Interne OCI"/>
          <p:cNvSpPr txBox="1"/>
          <p:nvPr/>
        </p:nvSpPr>
        <p:spPr>
          <a:xfrm>
            <a:off x="109728" y="65836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F16E00"/>
                </a:solidFill>
                <a:latin typeface="Arial"/>
              </a:rPr>
              <a:t>Interne OCI</a:t>
            </a:r>
          </a:p>
        </p:txBody>
      </p:sp>
      <p:sp>
        <p:nvSpPr>
          <p:cNvPr id="6" name="Pied - Document"/>
          <p:cNvSpPr txBox="1"/>
          <p:nvPr/>
        </p:nvSpPr>
        <p:spPr>
          <a:xfrm>
            <a:off x="4267047" y="65836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16E00"/>
                </a:solidFill>
                <a:latin typeface="Arial"/>
              </a:rPr>
              <a:t>Présentation DSI</a:t>
            </a:r>
          </a:p>
        </p:txBody>
      </p:sp>
      <p:sp>
        <p:nvSpPr>
          <p:cNvPr id="7" name="Pied - Auteur"/>
          <p:cNvSpPr txBox="1"/>
          <p:nvPr/>
        </p:nvSpPr>
        <p:spPr>
          <a:xfrm>
            <a:off x="9338767" y="65836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>
                <a:solidFill>
                  <a:srgbClr val="9E9E9E"/>
                </a:solidFill>
                <a:latin typeface="Arial"/>
              </a:rPr>
              <a:t>Créé par TRAORE Souleymane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8840"/>
            <a:ext cx="228600" cy="2194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couverture"/>
          <p:cNvSpPr txBox="1"/>
          <p:nvPr/>
        </p:nvSpPr>
        <p:spPr>
          <a:xfrm>
            <a:off x="731520" y="210312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4000" b="1" dirty="0">
                <a:solidFill>
                  <a:srgbClr val="FFFFFF"/>
                </a:solidFill>
                <a:latin typeface="Arial"/>
                <a:cs typeface="Arial"/>
              </a:rPr>
              <a:t>School ERP</a:t>
            </a:r>
          </a:p>
          <a:p>
            <a:pPr algn="l">
              <a:spcAft>
                <a:spcPts val="1200"/>
              </a:spcAft>
            </a:pPr>
            <a:r>
              <a:rPr lang="fr-FR" sz="2400" b="1" dirty="0">
                <a:solidFill>
                  <a:srgbClr val="F16E00"/>
                </a:solidFill>
                <a:latin typeface="Arial"/>
                <a:cs typeface="Arial"/>
              </a:rPr>
              <a:t>Documentation technique de prise en main</a:t>
            </a:r>
          </a:p>
          <a:p>
            <a:pPr algn="l">
              <a:spcAft>
                <a:spcPts val="300"/>
              </a:spcAft>
            </a:pPr>
            <a:r>
              <a:rPr lang="fr-FR" sz="1400" b="0" dirty="0">
                <a:solidFill>
                  <a:srgbClr val="B3B3B3"/>
                </a:solidFill>
                <a:latin typeface="Arial"/>
                <a:cs typeface="Arial"/>
              </a:rPr>
              <a:t>Architecture, installation, sécurité, exploitation et procédures courantes</a:t>
            </a:r>
          </a:p>
          <a:p>
            <a:pPr algn="l">
              <a:spcAft>
                <a:spcPts val="300"/>
              </a:spcAft>
            </a:pPr>
            <a:r>
              <a:rPr lang="fr-FR" sz="1400" b="0" dirty="0">
                <a:solidFill>
                  <a:srgbClr val="B3B3B3"/>
                </a:solidFill>
                <a:latin typeface="Arial"/>
                <a:cs typeface="Arial"/>
              </a:rPr>
              <a:t>État du dépôt au 3 octobre 2026  ·  branche feature/robustness  ·  Souleymane TRAORE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2948026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1. VUE D'ENSEMBLE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School ERP est une application web de gestion d'établissement scolaire, pensée pour les écoles de Côte d'Ivoire.</a:t>
            </a:r>
          </a:p>
        </p:txBody>
      </p:sp>
      <p:sp>
        <p:nvSpPr>
          <p:cNvPr id="4" name="KPI Modules API"/>
          <p:cNvSpPr/>
          <p:nvPr/>
        </p:nvSpPr>
        <p:spPr>
          <a:xfrm>
            <a:off x="365760" y="1325880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ccent"/>
          <p:cNvSpPr/>
          <p:nvPr/>
        </p:nvSpPr>
        <p:spPr>
          <a:xfrm>
            <a:off x="365760" y="15087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KPI Modules API texte"/>
          <p:cNvSpPr txBox="1"/>
          <p:nvPr/>
        </p:nvSpPr>
        <p:spPr>
          <a:xfrm>
            <a:off x="594360" y="146304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33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Modules API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232 routes</a:t>
            </a:r>
          </a:p>
        </p:txBody>
      </p:sp>
      <p:sp>
        <p:nvSpPr>
          <p:cNvPr id="7" name="KPI Tables"/>
          <p:cNvSpPr/>
          <p:nvPr/>
        </p:nvSpPr>
        <p:spPr>
          <a:xfrm>
            <a:off x="2697480" y="1325880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ccent"/>
          <p:cNvSpPr/>
          <p:nvPr/>
        </p:nvSpPr>
        <p:spPr>
          <a:xfrm>
            <a:off x="2697480" y="15087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KPI Tables texte"/>
          <p:cNvSpPr txBox="1"/>
          <p:nvPr/>
        </p:nvSpPr>
        <p:spPr>
          <a:xfrm>
            <a:off x="2926080" y="146304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50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Tables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9 migrations</a:t>
            </a:r>
          </a:p>
        </p:txBody>
      </p:sp>
      <p:sp>
        <p:nvSpPr>
          <p:cNvPr id="10" name="KPI Écrans"/>
          <p:cNvSpPr/>
          <p:nvPr/>
        </p:nvSpPr>
        <p:spPr>
          <a:xfrm>
            <a:off x="5029200" y="1325880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ccent"/>
          <p:cNvSpPr/>
          <p:nvPr/>
        </p:nvSpPr>
        <p:spPr>
          <a:xfrm>
            <a:off x="5029200" y="15087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KPI Écrans texte"/>
          <p:cNvSpPr txBox="1"/>
          <p:nvPr/>
        </p:nvSpPr>
        <p:spPr>
          <a:xfrm>
            <a:off x="5257800" y="146304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41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Écrans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web et mobile</a:t>
            </a:r>
          </a:p>
        </p:txBody>
      </p:sp>
      <p:sp>
        <p:nvSpPr>
          <p:cNvPr id="13" name="KPI Rôles"/>
          <p:cNvSpPr/>
          <p:nvPr/>
        </p:nvSpPr>
        <p:spPr>
          <a:xfrm>
            <a:off x="7360920" y="1325880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ccent"/>
          <p:cNvSpPr/>
          <p:nvPr/>
        </p:nvSpPr>
        <p:spPr>
          <a:xfrm>
            <a:off x="7360920" y="15087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KPI Rôles texte"/>
          <p:cNvSpPr txBox="1"/>
          <p:nvPr/>
        </p:nvSpPr>
        <p:spPr>
          <a:xfrm>
            <a:off x="7589520" y="146304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8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Rôles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du parent à la direction</a:t>
            </a:r>
          </a:p>
        </p:txBody>
      </p:sp>
      <p:sp>
        <p:nvSpPr>
          <p:cNvPr id="16" name="KPI Conteneurs"/>
          <p:cNvSpPr/>
          <p:nvPr/>
        </p:nvSpPr>
        <p:spPr>
          <a:xfrm>
            <a:off x="9692640" y="1325880"/>
            <a:ext cx="2148840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ccent"/>
          <p:cNvSpPr/>
          <p:nvPr/>
        </p:nvSpPr>
        <p:spPr>
          <a:xfrm>
            <a:off x="9692640" y="15087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KPI Conteneurs texte"/>
          <p:cNvSpPr txBox="1"/>
          <p:nvPr/>
        </p:nvSpPr>
        <p:spPr>
          <a:xfrm>
            <a:off x="9921240" y="146304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Conteneurs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en développement</a:t>
            </a:r>
          </a:p>
        </p:txBody>
      </p:sp>
      <p:sp>
        <p:nvSpPr>
          <p:cNvPr id="19" name="Carte Périmètre"/>
          <p:cNvSpPr/>
          <p:nvPr/>
        </p:nvSpPr>
        <p:spPr>
          <a:xfrm>
            <a:off x="365760" y="2834640"/>
            <a:ext cx="5646420" cy="3200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arte Périmètre titre"/>
          <p:cNvSpPr txBox="1"/>
          <p:nvPr/>
        </p:nvSpPr>
        <p:spPr>
          <a:xfrm>
            <a:off x="566928" y="299923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Ce que couvre l'application</a:t>
            </a:r>
          </a:p>
        </p:txBody>
      </p:sp>
      <p:sp>
        <p:nvSpPr>
          <p:cNvPr id="21" name="Carte Périmètre texte"/>
          <p:cNvSpPr txBox="1"/>
          <p:nvPr/>
        </p:nvSpPr>
        <p:spPr>
          <a:xfrm>
            <a:off x="566928" y="3383280"/>
            <a:ext cx="5244084" cy="2487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Scolarité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élèves, classes, appel, notes, bulletins, conseil de classe, emplois du temps, vie scolaire, cahier de textes.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Admissions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candidature en ligne, dossier, pièces, test, entretien, décision, suivi par la famille.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Finance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factures, encaissements, liens de paiement, remboursements, paie, exports comptables.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Familles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espace parent, SMS, messagerie avec l'école.</a:t>
            </a:r>
          </a:p>
        </p:txBody>
      </p:sp>
      <p:sp>
        <p:nvSpPr>
          <p:cNvPr id="22" name="Carte Lecteurs"/>
          <p:cNvSpPr/>
          <p:nvPr/>
        </p:nvSpPr>
        <p:spPr>
          <a:xfrm>
            <a:off x="6195060" y="2834640"/>
            <a:ext cx="5646420" cy="3200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arte Lecteurs titre"/>
          <p:cNvSpPr txBox="1"/>
          <p:nvPr/>
        </p:nvSpPr>
        <p:spPr>
          <a:xfrm>
            <a:off x="6396228" y="299923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À qui s'adresse ce document</a:t>
            </a:r>
          </a:p>
        </p:txBody>
      </p:sp>
      <p:sp>
        <p:nvSpPr>
          <p:cNvPr id="24" name="Carte Lecteurs texte"/>
          <p:cNvSpPr txBox="1"/>
          <p:nvPr/>
        </p:nvSpPr>
        <p:spPr>
          <a:xfrm>
            <a:off x="6396228" y="3383280"/>
            <a:ext cx="5244084" cy="2487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Développeur qui reprend le code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sections 2 à 7, 12, 16 et 17.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Personne qui installe et exploite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sections 5, 12 à 15 et 17.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Responsable sécurité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sections 8 à 10.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Le guide d'utilisation par rôle est à part : docs/GUIDE-UTILISATEUR.md.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2633472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2. ARCHITECTURE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Trois étages : une application web, une API, une base de données. Tout tourne dans des conteneurs Docker.</a:t>
            </a:r>
          </a:p>
        </p:txBody>
      </p:sp>
      <p:sp>
        <p:nvSpPr>
          <p:cNvPr id="4" name="Carte Schéma"/>
          <p:cNvSpPr/>
          <p:nvPr/>
        </p:nvSpPr>
        <p:spPr>
          <a:xfrm>
            <a:off x="365760" y="1325880"/>
            <a:ext cx="6035040" cy="30175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arte Schéma titre"/>
          <p:cNvSpPr txBox="1"/>
          <p:nvPr/>
        </p:nvSpPr>
        <p:spPr>
          <a:xfrm>
            <a:off x="566928" y="1490472"/>
            <a:ext cx="56327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Composants et ports (développement)</a:t>
            </a:r>
          </a:p>
        </p:txBody>
      </p:sp>
      <p:sp>
        <p:nvSpPr>
          <p:cNvPr id="6" name="Carte Schéma texte"/>
          <p:cNvSpPr txBox="1"/>
          <p:nvPr/>
        </p:nvSpPr>
        <p:spPr>
          <a:xfrm>
            <a:off x="566928" y="1874520"/>
            <a:ext cx="5632704" cy="2304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Navigateur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|  http://localhost:1300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v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Web   Next.js 15   conteneur school-frontend (3000)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|  http://localhost:4000/api   (jeton + cookie)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v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API   NestJS 10    conteneur school-backend (4000)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|-- PostgreSQL 16   school-postgres (5432)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|-- Redis 7         school-redis    (6379)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|-- E-mail SMTP     school-mailhog  (1025, vue 8025)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'-- Fichiers        volume uploads ou compartiment S3</a:t>
            </a:r>
          </a:p>
        </p:txBody>
      </p:sp>
      <p:sp>
        <p:nvSpPr>
          <p:cNvPr id="7" name="Carte Requête"/>
          <p:cNvSpPr/>
          <p:nvPr/>
        </p:nvSpPr>
        <p:spPr>
          <a:xfrm>
            <a:off x="6583680" y="1325880"/>
            <a:ext cx="5257800" cy="30175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arte Requête titre"/>
          <p:cNvSpPr txBox="1"/>
          <p:nvPr/>
        </p:nvSpPr>
        <p:spPr>
          <a:xfrm>
            <a:off x="6784848" y="1490472"/>
            <a:ext cx="4855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Trajet d'une requête</a:t>
            </a:r>
          </a:p>
        </p:txBody>
      </p:sp>
      <p:sp>
        <p:nvSpPr>
          <p:cNvPr id="9" name="Carte Requête texte"/>
          <p:cNvSpPr txBox="1"/>
          <p:nvPr/>
        </p:nvSpPr>
        <p:spPr>
          <a:xfrm>
            <a:off x="6784848" y="1874520"/>
            <a:ext cx="4855464" cy="2304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Le navigateur envoie le jeton d'accès (15 min) dans l'en-tête Authorization.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L'API vérifie le jeton, le statut du compte et le rôle demandé par la route.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Le service ne lit et n'écrit que les données de l'école de l'utilisateur.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Toute écriture est consignée dans le journal d'audit.</a:t>
            </a:r>
          </a:p>
        </p:txBody>
      </p:sp>
      <p:sp>
        <p:nvSpPr>
          <p:cNvPr id="10" name="Carte Externe"/>
          <p:cNvSpPr/>
          <p:nvPr/>
        </p:nvSpPr>
        <p:spPr>
          <a:xfrm>
            <a:off x="365760" y="4526280"/>
            <a:ext cx="11475720" cy="15087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arte Externe titre"/>
          <p:cNvSpPr txBox="1"/>
          <p:nvPr/>
        </p:nvSpPr>
        <p:spPr>
          <a:xfrm>
            <a:off x="566928" y="4690872"/>
            <a:ext cx="11073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Services extérieurs, tous optionnels</a:t>
            </a:r>
          </a:p>
        </p:txBody>
      </p:sp>
      <p:sp>
        <p:nvSpPr>
          <p:cNvPr id="12" name="Carte Externe texte"/>
          <p:cNvSpPr txBox="1"/>
          <p:nvPr/>
        </p:nvSpPr>
        <p:spPr>
          <a:xfrm>
            <a:off x="566928" y="5074920"/>
            <a:ext cx="1107338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CinetPay (paiement), Orange SMS ou Twilio (SMS, WhatsApp), Sentry (erreurs), Prometheus (métriques), ClamAV (antivirus), Dify et Claude (assistant). Sans leurs clés l'application fonctionne : paiement simulé hors production, SMS consignés sans envoi.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2948026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3. PILE TECHNIQUE</a:t>
            </a:r>
          </a:p>
        </p:txBody>
      </p:sp>
      <p:sp>
        <p:nvSpPr>
          <p:cNvPr id="3" name="KPI API"/>
          <p:cNvSpPr/>
          <p:nvPr/>
        </p:nvSpPr>
        <p:spPr>
          <a:xfrm>
            <a:off x="365760" y="86868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ccent"/>
          <p:cNvSpPr/>
          <p:nvPr/>
        </p:nvSpPr>
        <p:spPr>
          <a:xfrm>
            <a:off x="365760" y="10515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KPI API texte"/>
          <p:cNvSpPr txBox="1"/>
          <p:nvPr/>
        </p:nvSpPr>
        <p:spPr>
          <a:xfrm>
            <a:off x="594360" y="1005840"/>
            <a:ext cx="2368296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NestJS 10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TypeScript, Node 22</a:t>
            </a:r>
          </a:p>
        </p:txBody>
      </p:sp>
      <p:sp>
        <p:nvSpPr>
          <p:cNvPr id="6" name="KPI Web"/>
          <p:cNvSpPr/>
          <p:nvPr/>
        </p:nvSpPr>
        <p:spPr>
          <a:xfrm>
            <a:off x="3282696" y="86868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ccent"/>
          <p:cNvSpPr/>
          <p:nvPr/>
        </p:nvSpPr>
        <p:spPr>
          <a:xfrm>
            <a:off x="3282696" y="10515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KPI Web texte"/>
          <p:cNvSpPr txBox="1"/>
          <p:nvPr/>
        </p:nvSpPr>
        <p:spPr>
          <a:xfrm>
            <a:off x="3511296" y="1005840"/>
            <a:ext cx="2368296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Next.js 15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React 18, App Router</a:t>
            </a:r>
          </a:p>
        </p:txBody>
      </p:sp>
      <p:sp>
        <p:nvSpPr>
          <p:cNvPr id="9" name="KPI Accès aux données"/>
          <p:cNvSpPr/>
          <p:nvPr/>
        </p:nvSpPr>
        <p:spPr>
          <a:xfrm>
            <a:off x="6199632" y="86868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ccent"/>
          <p:cNvSpPr/>
          <p:nvPr/>
        </p:nvSpPr>
        <p:spPr>
          <a:xfrm>
            <a:off x="6199632" y="10515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KPI Accès aux données texte"/>
          <p:cNvSpPr txBox="1"/>
          <p:nvPr/>
        </p:nvSpPr>
        <p:spPr>
          <a:xfrm>
            <a:off x="6428232" y="1005840"/>
            <a:ext cx="2368296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Prisma 5.22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Accès aux données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migrations versionnées</a:t>
            </a:r>
          </a:p>
        </p:txBody>
      </p:sp>
      <p:sp>
        <p:nvSpPr>
          <p:cNvPr id="12" name="KPI Base de données"/>
          <p:cNvSpPr/>
          <p:nvPr/>
        </p:nvSpPr>
        <p:spPr>
          <a:xfrm>
            <a:off x="9116568" y="868680"/>
            <a:ext cx="2734056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ent"/>
          <p:cNvSpPr/>
          <p:nvPr/>
        </p:nvSpPr>
        <p:spPr>
          <a:xfrm>
            <a:off x="9116568" y="1051560"/>
            <a:ext cx="54864" cy="96012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KPI Base de données texte"/>
          <p:cNvSpPr txBox="1"/>
          <p:nvPr/>
        </p:nvSpPr>
        <p:spPr>
          <a:xfrm>
            <a:off x="9345168" y="1005840"/>
            <a:ext cx="2368296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PostgreSQL 16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Base de données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Redis 7 pour le cache</a:t>
            </a:r>
          </a:p>
        </p:txBody>
      </p:sp>
      <p:sp>
        <p:nvSpPr>
          <p:cNvPr id="15" name="Carte API"/>
          <p:cNvSpPr/>
          <p:nvPr/>
        </p:nvSpPr>
        <p:spPr>
          <a:xfrm>
            <a:off x="365760" y="2377440"/>
            <a:ext cx="5646420" cy="3657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arte API titre"/>
          <p:cNvSpPr txBox="1"/>
          <p:nvPr/>
        </p:nvSpPr>
        <p:spPr>
          <a:xfrm>
            <a:off x="566928" y="254203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Côté API (dossier backend)</a:t>
            </a:r>
          </a:p>
        </p:txBody>
      </p:sp>
      <p:sp>
        <p:nvSpPr>
          <p:cNvPr id="17" name="Carte API texte"/>
          <p:cNvSpPr txBox="1"/>
          <p:nvPr/>
        </p:nvSpPr>
        <p:spPr>
          <a:xfrm>
            <a:off x="566928" y="2926080"/>
            <a:ext cx="5244084" cy="2944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Authentification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JWT, cookie de renouvellement, TOTP (otplib), bcrypt coût 12.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Documents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pdfkit (bulletins, fiches de paie), exceljs (imports).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Envoi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nodemailer (e-mail), connecteurs SMS écrits sans dépendance.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Suivi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journaux JSON, Sentry optionnel, métriques Prometheus.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Tests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Jest pour les règles, scripts Node pour le bout en bout.</a:t>
            </a:r>
          </a:p>
        </p:txBody>
      </p:sp>
      <p:sp>
        <p:nvSpPr>
          <p:cNvPr id="18" name="Carte Web"/>
          <p:cNvSpPr/>
          <p:nvPr/>
        </p:nvSpPr>
        <p:spPr>
          <a:xfrm>
            <a:off x="6195060" y="2377440"/>
            <a:ext cx="5646420" cy="3657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arte Web titre"/>
          <p:cNvSpPr txBox="1"/>
          <p:nvPr/>
        </p:nvSpPr>
        <p:spPr>
          <a:xfrm>
            <a:off x="6396228" y="254203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Côté web (dossier frontend)</a:t>
            </a:r>
          </a:p>
        </p:txBody>
      </p:sp>
      <p:sp>
        <p:nvSpPr>
          <p:cNvPr id="20" name="Carte Web texte"/>
          <p:cNvSpPr txBox="1"/>
          <p:nvPr/>
        </p:nvSpPr>
        <p:spPr>
          <a:xfrm>
            <a:off x="6396228" y="2926080"/>
            <a:ext cx="5244084" cy="2944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Interface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composants maison (components/ui), icônes lucide-react, CSS par jetons dans globals.css, thèmes clair et sombre.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Graphiques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Recharts, chargé seulement sur le tableau de bord.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Hors ligne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application installable, service worker, appel sans réseau.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Tests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Vitest pour les fonctions, Playwright et axe-core dans un vrai navigateur.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3891686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4. ORGANISATION DU CODE</a:t>
            </a:r>
          </a:p>
        </p:txBody>
      </p:sp>
      <p:sp>
        <p:nvSpPr>
          <p:cNvPr id="3" name="Carte Backend"/>
          <p:cNvSpPr/>
          <p:nvPr/>
        </p:nvSpPr>
        <p:spPr>
          <a:xfrm>
            <a:off x="365760" y="868680"/>
            <a:ext cx="56464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arte Backend titre"/>
          <p:cNvSpPr txBox="1"/>
          <p:nvPr/>
        </p:nvSpPr>
        <p:spPr>
          <a:xfrm>
            <a:off x="566928" y="10332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backend/</a:t>
            </a:r>
          </a:p>
        </p:txBody>
      </p:sp>
      <p:sp>
        <p:nvSpPr>
          <p:cNvPr id="5" name="Carte Backend texte"/>
          <p:cNvSpPr txBox="1"/>
          <p:nvPr/>
        </p:nvSpPr>
        <p:spPr>
          <a:xfrm>
            <a:off x="566928" y="1417320"/>
            <a:ext cx="52440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prisma/schema.prisma     le modèle de données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prisma/migrations/       9 migrations versionnées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prisma/seed*.ts          données de démonstration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scripts/migrate.sh       migrations au démarrage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src/main.ts              démarrage, filtres, Swagger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src/app.module.ts        liste des modules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src/auth/                connexion, sessions, 2FA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src/common/              rôles, pagination, filtres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src/infra/               Redis, e-mail, SMS, stockage,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                      chiffrement, métriques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src/&lt;module&gt;/            un dossier par domaine :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x.controller.ts          routes et rôles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x.service.ts             règles et accès aux données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 x-math.ts, x.spec.ts     calculs purs et leurs tests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test/e2e-*.js            16 scénarios de bout en bout</a:t>
            </a:r>
          </a:p>
        </p:txBody>
      </p:sp>
      <p:sp>
        <p:nvSpPr>
          <p:cNvPr id="6" name="Carte Frontend"/>
          <p:cNvSpPr/>
          <p:nvPr/>
        </p:nvSpPr>
        <p:spPr>
          <a:xfrm>
            <a:off x="6195060" y="868680"/>
            <a:ext cx="56464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arte Frontend titre"/>
          <p:cNvSpPr txBox="1"/>
          <p:nvPr/>
        </p:nvSpPr>
        <p:spPr>
          <a:xfrm>
            <a:off x="6396228" y="10332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frontend/ et racine</a:t>
            </a:r>
          </a:p>
        </p:txBody>
      </p:sp>
      <p:sp>
        <p:nvSpPr>
          <p:cNvPr id="8" name="Carte Frontend texte"/>
          <p:cNvSpPr txBox="1"/>
          <p:nvPr/>
        </p:nvSpPr>
        <p:spPr>
          <a:xfrm>
            <a:off x="6396228" y="1417320"/>
            <a:ext cx="52440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src/app/&lt;page&gt;/page.tsx  une page par dossier (41)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src/app/globals.css      jetons de couleur, composants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src/components/Shell.tsx menu, session, bandeaux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src/components/ui/       modale, tableau, messages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src/lib/api.ts           appels API, renouvellement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src/lib/offline.ts       file d'attente hors ligne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src/lib/i18n.ts          traductions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public/                  manifest, sw.js, icônes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e2e/                     tests navigateur (Playwright)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/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docker-compose.yml       environnement de développement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docker-compose.prod.yml  production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deploy/                  nginx, sauvegardes, alertes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.github/workflows/ci.yml intégration continue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docs/                    guides et état des chantiers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5307178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5. INSTALLATION EN DÉVELOPPEMENT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Prérequis : Docker Desktop et Git. Node et la base de données vivent dans les conteneurs.</a:t>
            </a:r>
          </a:p>
        </p:txBody>
      </p:sp>
      <p:sp>
        <p:nvSpPr>
          <p:cNvPr id="4" name="Étape 1"/>
          <p:cNvSpPr/>
          <p:nvPr/>
        </p:nvSpPr>
        <p:spPr>
          <a:xfrm>
            <a:off x="365760" y="1325880"/>
            <a:ext cx="3703320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Numéro étape 1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e étape 1"/>
          <p:cNvSpPr txBox="1"/>
          <p:nvPr/>
        </p:nvSpPr>
        <p:spPr>
          <a:xfrm>
            <a:off x="640080" y="228600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Récupérer et démarrer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Cloner le dépôt puis lancer docker compose up -d --build. La première construction prend plusieurs minutes.</a:t>
            </a:r>
          </a:p>
        </p:txBody>
      </p:sp>
      <p:sp>
        <p:nvSpPr>
          <p:cNvPr id="7" name="Étape 2"/>
          <p:cNvSpPr/>
          <p:nvPr/>
        </p:nvSpPr>
        <p:spPr>
          <a:xfrm>
            <a:off x="4251960" y="1325880"/>
            <a:ext cx="3703320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Numéro étape 2"/>
          <p:cNvSpPr/>
          <p:nvPr/>
        </p:nvSpPr>
        <p:spPr>
          <a:xfrm>
            <a:off x="45262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e étape 2"/>
          <p:cNvSpPr txBox="1"/>
          <p:nvPr/>
        </p:nvSpPr>
        <p:spPr>
          <a:xfrm>
            <a:off x="4526280" y="228600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Laisser l'API se préparer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Elle installe ses dépendances, applique les migrations et, sur une base vide, crée les données de démonstration.</a:t>
            </a:r>
          </a:p>
        </p:txBody>
      </p:sp>
      <p:sp>
        <p:nvSpPr>
          <p:cNvPr id="10" name="Étape 3"/>
          <p:cNvSpPr/>
          <p:nvPr/>
        </p:nvSpPr>
        <p:spPr>
          <a:xfrm>
            <a:off x="8138160" y="1325880"/>
            <a:ext cx="3703320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Numéro étape 3"/>
          <p:cNvSpPr/>
          <p:nvPr/>
        </p:nvSpPr>
        <p:spPr>
          <a:xfrm>
            <a:off x="84124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e étape 3"/>
          <p:cNvSpPr txBox="1"/>
          <p:nvPr/>
        </p:nvSpPr>
        <p:spPr>
          <a:xfrm>
            <a:off x="8412480" y="228600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Ouvrir l'application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Site : localhost:1300. API : localhost:4000/api. Routes : /api/docs. E-mails reçus : localhost:8025.</a:t>
            </a:r>
          </a:p>
        </p:txBody>
      </p:sp>
      <p:sp>
        <p:nvSpPr>
          <p:cNvPr id="13" name="Carte Commandes"/>
          <p:cNvSpPr/>
          <p:nvPr/>
        </p:nvSpPr>
        <p:spPr>
          <a:xfrm>
            <a:off x="365760" y="3749040"/>
            <a:ext cx="6675120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Carte Commandes titre"/>
          <p:cNvSpPr txBox="1"/>
          <p:nvPr/>
        </p:nvSpPr>
        <p:spPr>
          <a:xfrm>
            <a:off x="566928" y="3913632"/>
            <a:ext cx="62727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Commandes</a:t>
            </a:r>
          </a:p>
        </p:txBody>
      </p:sp>
      <p:sp>
        <p:nvSpPr>
          <p:cNvPr id="15" name="Carte Commandes texte"/>
          <p:cNvSpPr txBox="1"/>
          <p:nvPr/>
        </p:nvSpPr>
        <p:spPr>
          <a:xfrm>
            <a:off x="566928" y="4297680"/>
            <a:ext cx="6272784" cy="1572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git clone https://github.com/traores211/GESTION-SCHOOL.git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cd GESTION-SCHOOL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compose up -d --build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compose ps                 # tout doit être healthy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compose logs -f backend    # suivre le démarrage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curl http://localhost:4000/api/health</a:t>
            </a:r>
          </a:p>
        </p:txBody>
      </p:sp>
      <p:sp>
        <p:nvSpPr>
          <p:cNvPr id="16" name="Carte Comptes"/>
          <p:cNvSpPr/>
          <p:nvPr/>
        </p:nvSpPr>
        <p:spPr>
          <a:xfrm>
            <a:off x="7223760" y="3749040"/>
            <a:ext cx="4617720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arte Comptes titre"/>
          <p:cNvSpPr txBox="1"/>
          <p:nvPr/>
        </p:nvSpPr>
        <p:spPr>
          <a:xfrm>
            <a:off x="7424928" y="3913632"/>
            <a:ext cx="4215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Comptes de démonstration</a:t>
            </a:r>
          </a:p>
        </p:txBody>
      </p:sp>
      <p:sp>
        <p:nvSpPr>
          <p:cNvPr id="18" name="Carte Comptes texte"/>
          <p:cNvSpPr txBox="1"/>
          <p:nvPr/>
        </p:nvSpPr>
        <p:spPr>
          <a:xfrm>
            <a:off x="7424928" y="4297680"/>
            <a:ext cx="4215384" cy="1572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Direction : </a:t>
            </a: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admin@school.local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Enseignant : </a:t>
            </a: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k.kouassi@school.local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Secrétariat : </a:t>
            </a: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secretaire@school.local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Parent : </a:t>
            </a: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parent@school.local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Développement seulement. Mots de passe : page de connexion et prisma/seed.ts.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3419856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6. MODÈLE DE DONNÉES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50 tables dans backend/prisma/schema.prisma. Le champ schoolId cloisonne les écoles entre elles.</a:t>
            </a:r>
          </a:p>
        </p:txBody>
      </p:sp>
      <p:sp>
        <p:nvSpPr>
          <p:cNvPr id="4" name="Carte Établissement"/>
          <p:cNvSpPr/>
          <p:nvPr/>
        </p:nvSpPr>
        <p:spPr>
          <a:xfrm>
            <a:off x="365760" y="132588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arte Établissement titre"/>
          <p:cNvSpPr txBox="1"/>
          <p:nvPr/>
        </p:nvSpPr>
        <p:spPr>
          <a:xfrm>
            <a:off x="566928" y="14904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Établissement</a:t>
            </a:r>
          </a:p>
        </p:txBody>
      </p:sp>
      <p:sp>
        <p:nvSpPr>
          <p:cNvPr id="6" name="Carte Établissement texte"/>
          <p:cNvSpPr txBox="1"/>
          <p:nvPr/>
        </p:nvSpPr>
        <p:spPr>
          <a:xfrm>
            <a:off x="566928" y="1874520"/>
            <a:ext cx="3300984" cy="978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Organisation, School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AcademicYear, Term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User, StaffMember, Permission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Sequence (numérotations)</a:t>
            </a:r>
          </a:p>
        </p:txBody>
      </p:sp>
      <p:sp>
        <p:nvSpPr>
          <p:cNvPr id="7" name="Carte Scolarité"/>
          <p:cNvSpPr/>
          <p:nvPr/>
        </p:nvSpPr>
        <p:spPr>
          <a:xfrm>
            <a:off x="4251960" y="132588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arte Scolarité titre"/>
          <p:cNvSpPr txBox="1"/>
          <p:nvPr/>
        </p:nvSpPr>
        <p:spPr>
          <a:xfrm>
            <a:off x="4453128" y="14904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Scolarité</a:t>
            </a:r>
          </a:p>
        </p:txBody>
      </p:sp>
      <p:sp>
        <p:nvSpPr>
          <p:cNvPr id="9" name="Carte Scolarité texte"/>
          <p:cNvSpPr txBox="1"/>
          <p:nvPr/>
        </p:nvSpPr>
        <p:spPr>
          <a:xfrm>
            <a:off x="4453128" y="1874520"/>
            <a:ext cx="3300984" cy="978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Student, Parent, Enrollment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Class, Subject, ClassSubject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Attendance, Grade, ReportCard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Homework, DisciplineRecord</a:t>
            </a:r>
          </a:p>
        </p:txBody>
      </p:sp>
      <p:sp>
        <p:nvSpPr>
          <p:cNvPr id="10" name="Carte Admissions et emploi du temps"/>
          <p:cNvSpPr/>
          <p:nvPr/>
        </p:nvSpPr>
        <p:spPr>
          <a:xfrm>
            <a:off x="8138160" y="132588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arte Admissions et emploi du temps titre"/>
          <p:cNvSpPr txBox="1"/>
          <p:nvPr/>
        </p:nvSpPr>
        <p:spPr>
          <a:xfrm>
            <a:off x="8339328" y="14904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Admissions et emploi du temps</a:t>
            </a:r>
          </a:p>
        </p:txBody>
      </p:sp>
      <p:sp>
        <p:nvSpPr>
          <p:cNvPr id="12" name="Carte Admissions et emploi du temps texte"/>
          <p:cNvSpPr txBox="1"/>
          <p:nvPr/>
        </p:nvSpPr>
        <p:spPr>
          <a:xfrm>
            <a:off x="8339328" y="1874520"/>
            <a:ext cx="3300984" cy="978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Admission, AdmissionPiece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AdmissionEvent (historique)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TimetableSession, Room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TimetableGrid, OfficialVolume</a:t>
            </a:r>
          </a:p>
        </p:txBody>
      </p:sp>
      <p:sp>
        <p:nvSpPr>
          <p:cNvPr id="13" name="Carte Finance"/>
          <p:cNvSpPr/>
          <p:nvPr/>
        </p:nvSpPr>
        <p:spPr>
          <a:xfrm>
            <a:off x="365760" y="310896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Carte Finance titre"/>
          <p:cNvSpPr txBox="1"/>
          <p:nvPr/>
        </p:nvSpPr>
        <p:spPr>
          <a:xfrm>
            <a:off x="566928" y="327355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Finance</a:t>
            </a:r>
          </a:p>
        </p:txBody>
      </p:sp>
      <p:sp>
        <p:nvSpPr>
          <p:cNvPr id="15" name="Carte Finance texte"/>
          <p:cNvSpPr txBox="1"/>
          <p:nvPr/>
        </p:nvSpPr>
        <p:spPr>
          <a:xfrm>
            <a:off x="566928" y="3657600"/>
            <a:ext cx="3300984" cy="978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Invoice, InvoiceItem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Payment (y compris en ligne)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Payslip (paie)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TransportSubscription</a:t>
            </a:r>
          </a:p>
        </p:txBody>
      </p:sp>
      <p:sp>
        <p:nvSpPr>
          <p:cNvPr id="16" name="Carte Familles"/>
          <p:cNvSpPr/>
          <p:nvPr/>
        </p:nvSpPr>
        <p:spPr>
          <a:xfrm>
            <a:off x="4251960" y="310896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arte Familles titre"/>
          <p:cNvSpPr txBox="1"/>
          <p:nvPr/>
        </p:nvSpPr>
        <p:spPr>
          <a:xfrm>
            <a:off x="4453128" y="327355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Familles</a:t>
            </a:r>
          </a:p>
        </p:txBody>
      </p:sp>
      <p:sp>
        <p:nvSpPr>
          <p:cNvPr id="18" name="Carte Familles texte"/>
          <p:cNvSpPr txBox="1"/>
          <p:nvPr/>
        </p:nvSpPr>
        <p:spPr>
          <a:xfrm>
            <a:off x="4453128" y="3657600"/>
            <a:ext cx="3300984" cy="978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Conversation, ConversationMessage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MessageLog (SMS envoyés)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Notification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Announcement, vitrine publique</a:t>
            </a:r>
          </a:p>
        </p:txBody>
      </p:sp>
      <p:sp>
        <p:nvSpPr>
          <p:cNvPr id="19" name="Carte Sécurité et traçabilité"/>
          <p:cNvSpPr/>
          <p:nvPr/>
        </p:nvSpPr>
        <p:spPr>
          <a:xfrm>
            <a:off x="8138160" y="3108960"/>
            <a:ext cx="37033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arte Sécurité et traçabilité titre"/>
          <p:cNvSpPr txBox="1"/>
          <p:nvPr/>
        </p:nvSpPr>
        <p:spPr>
          <a:xfrm>
            <a:off x="8339328" y="327355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Sécurité et traçabilité</a:t>
            </a:r>
          </a:p>
        </p:txBody>
      </p:sp>
      <p:sp>
        <p:nvSpPr>
          <p:cNvPr id="21" name="Carte Sécurité et traçabilité texte"/>
          <p:cNvSpPr txBox="1"/>
          <p:nvPr/>
        </p:nvSpPr>
        <p:spPr>
          <a:xfrm>
            <a:off x="8339328" y="3657600"/>
            <a:ext cx="3300984" cy="978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RefreshToken (sessions)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PasswordReset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AuditLog (journal)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Document (pièces jointes)</a:t>
            </a:r>
          </a:p>
        </p:txBody>
      </p:sp>
      <p:sp>
        <p:nvSpPr>
          <p:cNvPr id="22" name="Carte Règles"/>
          <p:cNvSpPr/>
          <p:nvPr/>
        </p:nvSpPr>
        <p:spPr>
          <a:xfrm>
            <a:off x="365760" y="4892040"/>
            <a:ext cx="11475720" cy="1143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arte Règles titre"/>
          <p:cNvSpPr txBox="1"/>
          <p:nvPr/>
        </p:nvSpPr>
        <p:spPr>
          <a:xfrm>
            <a:off x="566928" y="5056632"/>
            <a:ext cx="11073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Trois règles à connaître</a:t>
            </a:r>
          </a:p>
        </p:txBody>
      </p:sp>
      <p:sp>
        <p:nvSpPr>
          <p:cNvPr id="24" name="Carte Règles texte"/>
          <p:cNvSpPr txBox="1"/>
          <p:nvPr/>
        </p:nvSpPr>
        <p:spPr>
          <a:xfrm>
            <a:off x="566928" y="5440680"/>
            <a:ext cx="11073384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On archive, on ne supprime pas (élèves, personnel, factures annulées). Les montants sont des francs CFA entiers. Les colonnes de santé et les secrets 2FA sont chiffrés.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3262579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7. MODULES DE L'API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Routes sous /api/&lt;nom&gt;. Liste complète et paramètres dans Swagger (/api/docs), hors production.</a:t>
            </a:r>
          </a:p>
        </p:txBody>
      </p:sp>
      <p:sp>
        <p:nvSpPr>
          <p:cNvPr id="4" name="Carte Scolarité"/>
          <p:cNvSpPr/>
          <p:nvPr/>
        </p:nvSpPr>
        <p:spPr>
          <a:xfrm>
            <a:off x="365760" y="1325880"/>
            <a:ext cx="3703320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arte Scolarité titre"/>
          <p:cNvSpPr txBox="1"/>
          <p:nvPr/>
        </p:nvSpPr>
        <p:spPr>
          <a:xfrm>
            <a:off x="566928" y="14904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Scolarité</a:t>
            </a:r>
          </a:p>
        </p:txBody>
      </p:sp>
      <p:sp>
        <p:nvSpPr>
          <p:cNvPr id="6" name="Carte Scolarité texte"/>
          <p:cNvSpPr txBox="1"/>
          <p:nvPr/>
        </p:nvSpPr>
        <p:spPr>
          <a:xfrm>
            <a:off x="566928" y="1874520"/>
            <a:ext cx="3300984" cy="3995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students, parents, classes, subjects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fiches et inscriptions.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attendance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appel, justificatifs.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grades, bulletins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notes, conseil de classe, PDF.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timetable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import, génération, contrôle de conformité.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admissions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dossier, pièces, étapes, historique.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discipline, homework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vie scolaire, cahier de textes.</a:t>
            </a:r>
          </a:p>
        </p:txBody>
      </p:sp>
      <p:sp>
        <p:nvSpPr>
          <p:cNvPr id="7" name="Carte Gestion"/>
          <p:cNvSpPr/>
          <p:nvPr/>
        </p:nvSpPr>
        <p:spPr>
          <a:xfrm>
            <a:off x="4251960" y="1325880"/>
            <a:ext cx="3703320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arte Gestion titre"/>
          <p:cNvSpPr txBox="1"/>
          <p:nvPr/>
        </p:nvSpPr>
        <p:spPr>
          <a:xfrm>
            <a:off x="4453128" y="14904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Gestion</a:t>
            </a:r>
          </a:p>
        </p:txBody>
      </p:sp>
      <p:sp>
        <p:nvSpPr>
          <p:cNvPr id="9" name="Carte Gestion texte"/>
          <p:cNvSpPr txBox="1"/>
          <p:nvPr/>
        </p:nvSpPr>
        <p:spPr>
          <a:xfrm>
            <a:off x="4453128" y="1874520"/>
            <a:ext cx="3300984" cy="3995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billing, payments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factures, encaissements, liens de paiement, exports.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payroll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fiches de paie.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staff, users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comptes et statuts.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imports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reprise Excel ou CSV.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messaging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SMS, plafond, journal.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dashboard, insights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indicateurs, synthèse, prévision.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transport, announcements, showcase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transport, annonces, vitrine.</a:t>
            </a:r>
          </a:p>
        </p:txBody>
      </p:sp>
      <p:sp>
        <p:nvSpPr>
          <p:cNvPr id="10" name="Carte Transverse"/>
          <p:cNvSpPr/>
          <p:nvPr/>
        </p:nvSpPr>
        <p:spPr>
          <a:xfrm>
            <a:off x="8138160" y="1325880"/>
            <a:ext cx="3703320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arte Transverse titre"/>
          <p:cNvSpPr txBox="1"/>
          <p:nvPr/>
        </p:nvSpPr>
        <p:spPr>
          <a:xfrm>
            <a:off x="8339328" y="14904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Transverse et public</a:t>
            </a:r>
          </a:p>
        </p:txBody>
      </p:sp>
      <p:sp>
        <p:nvSpPr>
          <p:cNvPr id="12" name="Carte Transverse texte"/>
          <p:cNvSpPr txBox="1"/>
          <p:nvPr/>
        </p:nvSpPr>
        <p:spPr>
          <a:xfrm>
            <a:off x="8339328" y="1874520"/>
            <a:ext cx="3300984" cy="3995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auth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connexion, sessions, 2FA, mot de passe.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audit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journal des actions.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privacy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export et anonymisation.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parent-portal, conversations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espace des familles.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public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vitrine, candidature et suivi sans compte.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notifications, assistant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notifications, assistant Dify.</a:t>
            </a:r>
          </a:p>
          <a:p>
            <a:pPr marL="201168" indent="-201168" algn="l">
              <a:spcAft>
                <a:spcPts val="4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health, metrics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état et métriques.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5149901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8. AUTHENTIFICATION ET SESSIONS</a:t>
            </a:r>
          </a:p>
        </p:txBody>
      </p:sp>
      <p:sp>
        <p:nvSpPr>
          <p:cNvPr id="3" name="KPI Jeton d'accès"/>
          <p:cNvSpPr/>
          <p:nvPr/>
        </p:nvSpPr>
        <p:spPr>
          <a:xfrm>
            <a:off x="365760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ccent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KPI Jeton d'accès texte"/>
          <p:cNvSpPr txBox="1"/>
          <p:nvPr/>
        </p:nvSpPr>
        <p:spPr>
          <a:xfrm>
            <a:off x="594360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15 min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Jeton d'accès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JWT, en mémoire du navigateur</a:t>
            </a:r>
          </a:p>
        </p:txBody>
      </p:sp>
      <p:sp>
        <p:nvSpPr>
          <p:cNvPr id="6" name="KPI Session"/>
          <p:cNvSpPr/>
          <p:nvPr/>
        </p:nvSpPr>
        <p:spPr>
          <a:xfrm>
            <a:off x="3282696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ccent"/>
          <p:cNvSpPr/>
          <p:nvPr/>
        </p:nvSpPr>
        <p:spPr>
          <a:xfrm>
            <a:off x="3282696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KPI Session texte"/>
          <p:cNvSpPr txBox="1"/>
          <p:nvPr/>
        </p:nvSpPr>
        <p:spPr>
          <a:xfrm>
            <a:off x="3511296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30 jours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Session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cookie HttpOnly à rotation</a:t>
            </a:r>
          </a:p>
        </p:txBody>
      </p:sp>
      <p:sp>
        <p:nvSpPr>
          <p:cNvPr id="9" name="KPI Blocage du compte"/>
          <p:cNvSpPr/>
          <p:nvPr/>
        </p:nvSpPr>
        <p:spPr>
          <a:xfrm>
            <a:off x="6199632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ccent"/>
          <p:cNvSpPr/>
          <p:nvPr/>
        </p:nvSpPr>
        <p:spPr>
          <a:xfrm>
            <a:off x="6199632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KPI Blocage du compte texte"/>
          <p:cNvSpPr txBox="1"/>
          <p:nvPr/>
        </p:nvSpPr>
        <p:spPr>
          <a:xfrm>
            <a:off x="6428232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10 échecs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Blocage du compte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15 minutes, 50 par adresse IP</a:t>
            </a:r>
          </a:p>
        </p:txBody>
      </p:sp>
      <p:sp>
        <p:nvSpPr>
          <p:cNvPr id="12" name="KPI Double authentification"/>
          <p:cNvSpPr/>
          <p:nvPr/>
        </p:nvSpPr>
        <p:spPr>
          <a:xfrm>
            <a:off x="9116568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ent"/>
          <p:cNvSpPr/>
          <p:nvPr/>
        </p:nvSpPr>
        <p:spPr>
          <a:xfrm>
            <a:off x="9116568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KPI Double authentification texte"/>
          <p:cNvSpPr txBox="1"/>
          <p:nvPr/>
        </p:nvSpPr>
        <p:spPr>
          <a:xfrm>
            <a:off x="9345168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TOTP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Double authentification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recommandée direction et finance</a:t>
            </a:r>
          </a:p>
        </p:txBody>
      </p:sp>
      <p:sp>
        <p:nvSpPr>
          <p:cNvPr id="15" name="Carte Fonctionnement"/>
          <p:cNvSpPr/>
          <p:nvPr/>
        </p:nvSpPr>
        <p:spPr>
          <a:xfrm>
            <a:off x="365760" y="2468880"/>
            <a:ext cx="5646420" cy="3566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arte Fonctionnement titre"/>
          <p:cNvSpPr txBox="1"/>
          <p:nvPr/>
        </p:nvSpPr>
        <p:spPr>
          <a:xfrm>
            <a:off x="566928" y="26334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Fonctionnement</a:t>
            </a:r>
          </a:p>
        </p:txBody>
      </p:sp>
      <p:sp>
        <p:nvSpPr>
          <p:cNvPr id="17" name="Carte Fonctionnement texte"/>
          <p:cNvSpPr txBox="1"/>
          <p:nvPr/>
        </p:nvSpPr>
        <p:spPr>
          <a:xfrm>
            <a:off x="566928" y="3017520"/>
            <a:ext cx="5244084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À la connexion, l'API renvoie un jeton court et pose le cookie erp_refresh (chemin /api/auth).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Quand le jeton expire, lib/api.ts en redemande un seul pour toutes les requêtes en attente, puis les rejoue.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Chaque renouvellement remplace le cookie. Un ancien cookie réutilisé ferme toute la famille de sessions.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Le statut du compte est relu en base à chaque requête, avec 30 s de cache Redis.</a:t>
            </a:r>
          </a:p>
        </p:txBody>
      </p:sp>
      <p:sp>
        <p:nvSpPr>
          <p:cNvPr id="18" name="Carte Coupure"/>
          <p:cNvSpPr/>
          <p:nvPr/>
        </p:nvSpPr>
        <p:spPr>
          <a:xfrm>
            <a:off x="6195060" y="2468880"/>
            <a:ext cx="5646420" cy="3566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arte Coupure titre"/>
          <p:cNvSpPr txBox="1"/>
          <p:nvPr/>
        </p:nvSpPr>
        <p:spPr>
          <a:xfrm>
            <a:off x="6396228" y="26334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Ce qui coupe les sessions immédiatement</a:t>
            </a:r>
          </a:p>
        </p:txBody>
      </p:sp>
      <p:sp>
        <p:nvSpPr>
          <p:cNvPr id="20" name="Carte Coupure texte"/>
          <p:cNvSpPr txBox="1"/>
          <p:nvPr/>
        </p:nvSpPr>
        <p:spPr>
          <a:xfrm>
            <a:off x="6396228" y="3017520"/>
            <a:ext cx="5244084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Changement ou réinitialisation du mot de passe.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Compte désactivé ou archivé.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« Tout déconnecter » depuis Sécurité du compte.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Mot de passe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10 caractères minimum avec lettres et chiffres, mots courants refusés. Réinitialisation par lien à usage unique d'une heure, 3 demandes par heure.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3105302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9. RÔLES ET DROITS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Les droits sont vérifiés par l'API (@Roles sur chaque route). Le menu ne fait que masquer.</a:t>
            </a:r>
          </a:p>
        </p:txBody>
      </p:sp>
      <p:sp>
        <p:nvSpPr>
          <p:cNvPr id="4" name="Carte Rôles"/>
          <p:cNvSpPr/>
          <p:nvPr/>
        </p:nvSpPr>
        <p:spPr>
          <a:xfrm>
            <a:off x="365760" y="1325880"/>
            <a:ext cx="6675120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arte Rôles titre"/>
          <p:cNvSpPr txBox="1"/>
          <p:nvPr/>
        </p:nvSpPr>
        <p:spPr>
          <a:xfrm>
            <a:off x="566928" y="1490472"/>
            <a:ext cx="62727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Les huit rôles</a:t>
            </a:r>
          </a:p>
        </p:txBody>
      </p:sp>
      <p:sp>
        <p:nvSpPr>
          <p:cNvPr id="6" name="Carte Rôles texte"/>
          <p:cNvSpPr txBox="1"/>
          <p:nvPr/>
        </p:nvSpPr>
        <p:spPr>
          <a:xfrm>
            <a:off x="566928" y="1874520"/>
            <a:ext cx="6272784" cy="3995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SUPER_ADMIN, ADMIN_ORGANISATION, DIRECTOR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direction. Tout, dont le personnel, l'audit, les données personnelles, les décisions du conseil.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SECRETARY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secrétariat. Élèves, parents, admissions, appel, facturation, messages des parents.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COMPTABLE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finance. Facturation, remboursements, paie, exports, prévision.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ENSEIGNANT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appel, notes, appréciations, cahier de textes, vie scolaire.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PARENT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uniquement ses enfants, dans l'espace parent.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50" b="1" dirty="0">
                <a:solidFill>
                  <a:srgbClr val="FFFFFF"/>
                </a:solidFill>
                <a:latin typeface="Arial"/>
                <a:cs typeface="Arial"/>
              </a:rPr>
              <a:t>ELEVE : </a:t>
            </a:r>
            <a:r>
              <a:rPr lang="fr-FR" sz="1250" b="0" dirty="0">
                <a:solidFill>
                  <a:srgbClr val="FFFFFF"/>
                </a:solidFill>
                <a:latin typeface="Arial"/>
                <a:cs typeface="Arial"/>
              </a:rPr>
              <a:t>rôle prévu, sans écran dédié aujourd'hui.</a:t>
            </a:r>
          </a:p>
        </p:txBody>
      </p:sp>
      <p:sp>
        <p:nvSpPr>
          <p:cNvPr id="7" name="Carte Groupes"/>
          <p:cNvSpPr/>
          <p:nvPr/>
        </p:nvSpPr>
        <p:spPr>
          <a:xfrm>
            <a:off x="7223760" y="1325880"/>
            <a:ext cx="4617720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arte Groupes titre"/>
          <p:cNvSpPr txBox="1"/>
          <p:nvPr/>
        </p:nvSpPr>
        <p:spPr>
          <a:xfrm>
            <a:off x="7424928" y="1490472"/>
            <a:ext cx="4215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Groupes utilisés dans le code</a:t>
            </a:r>
          </a:p>
        </p:txBody>
      </p:sp>
      <p:sp>
        <p:nvSpPr>
          <p:cNvPr id="9" name="Carte Groupes texte"/>
          <p:cNvSpPr txBox="1"/>
          <p:nvPr/>
        </p:nvSpPr>
        <p:spPr>
          <a:xfrm>
            <a:off x="7424928" y="1874520"/>
            <a:ext cx="4215384" cy="1572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MANAGEMENT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les trois rôles de direction.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OFFICE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direction et secrétariat.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FINANCE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direction et comptable.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TEACHING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OFFICE et enseignants.</a:t>
            </a:r>
          </a:p>
        </p:txBody>
      </p:sp>
      <p:sp>
        <p:nvSpPr>
          <p:cNvPr id="10" name="Carte Où"/>
          <p:cNvSpPr/>
          <p:nvPr/>
        </p:nvSpPr>
        <p:spPr>
          <a:xfrm>
            <a:off x="7223760" y="3794760"/>
            <a:ext cx="4617720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arte Où titre"/>
          <p:cNvSpPr txBox="1"/>
          <p:nvPr/>
        </p:nvSpPr>
        <p:spPr>
          <a:xfrm>
            <a:off x="7424928" y="3959352"/>
            <a:ext cx="4215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Où les modifier</a:t>
            </a:r>
          </a:p>
        </p:txBody>
      </p:sp>
      <p:sp>
        <p:nvSpPr>
          <p:cNvPr id="12" name="Carte Où texte"/>
          <p:cNvSpPr txBox="1"/>
          <p:nvPr/>
        </p:nvSpPr>
        <p:spPr>
          <a:xfrm>
            <a:off x="7424928" y="4343400"/>
            <a:ext cx="4215384" cy="1527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API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backend/src/common/roles.ts.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Menu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frontend/src/components/Shell.tsx.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Les deux doivent rester alignés ; test/e2e-tenancy.js vérifie le cloisonnement.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5936285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10. SÉCURITÉ ET DONNÉES PERSONNELLES</a:t>
            </a:r>
          </a:p>
        </p:txBody>
      </p:sp>
      <p:sp>
        <p:nvSpPr>
          <p:cNvPr id="3" name="Carte Cloisonnement"/>
          <p:cNvSpPr/>
          <p:nvPr/>
        </p:nvSpPr>
        <p:spPr>
          <a:xfrm>
            <a:off x="365760" y="868680"/>
            <a:ext cx="37033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arte Cloisonnement titre"/>
          <p:cNvSpPr txBox="1"/>
          <p:nvPr/>
        </p:nvSpPr>
        <p:spPr>
          <a:xfrm>
            <a:off x="566928" y="10332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Protection des données</a:t>
            </a:r>
          </a:p>
        </p:txBody>
      </p:sp>
      <p:sp>
        <p:nvSpPr>
          <p:cNvPr id="5" name="Carte Cloisonnement texte"/>
          <p:cNvSpPr txBox="1"/>
          <p:nvPr/>
        </p:nvSpPr>
        <p:spPr>
          <a:xfrm>
            <a:off x="566928" y="1417320"/>
            <a:ext cx="33009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Cloisonnement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chaque requête est filtrée par l'école de l'utilisateur. Vérifié par 30 contrôles automatiques, pas par PostgreSQL (pas de RLS).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Chiffrement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allergies, besoins particuliers, notes d'entretien et secrets 2FA en AES-256-GCM avec DATA_ENCRYPTION_KEY.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Réponses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mots de passe et secrets retirés de toute réponse par un intercepteur global.</a:t>
            </a:r>
          </a:p>
        </p:txBody>
      </p:sp>
      <p:sp>
        <p:nvSpPr>
          <p:cNvPr id="6" name="Carte Traçabilité"/>
          <p:cNvSpPr/>
          <p:nvPr/>
        </p:nvSpPr>
        <p:spPr>
          <a:xfrm>
            <a:off x="4251960" y="868680"/>
            <a:ext cx="37033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arte Traçabilité titre"/>
          <p:cNvSpPr txBox="1"/>
          <p:nvPr/>
        </p:nvSpPr>
        <p:spPr>
          <a:xfrm>
            <a:off x="4453128" y="10332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Traçabilité</a:t>
            </a:r>
          </a:p>
        </p:txBody>
      </p:sp>
      <p:sp>
        <p:nvSpPr>
          <p:cNvPr id="8" name="Carte Traçabilité texte"/>
          <p:cNvSpPr txBox="1"/>
          <p:nvPr/>
        </p:nvSpPr>
        <p:spPr>
          <a:xfrm>
            <a:off x="4453128" y="1417320"/>
            <a:ext cx="33009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Journal d'audit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créations, modifications, suppressions, accès refusés, connexions, avec l'état avant modification.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Les secrets et les données de santé n'y figurent jamais.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Fichiers déposés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type vérifié sur le contenu, taille limitée, analyse ClamAV optionnelle.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Production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l'API refuse de démarrer avec un secret manquant, faible ou d'exemple.</a:t>
            </a:r>
          </a:p>
        </p:txBody>
      </p:sp>
      <p:sp>
        <p:nvSpPr>
          <p:cNvPr id="9" name="Carte ARTCI"/>
          <p:cNvSpPr/>
          <p:nvPr/>
        </p:nvSpPr>
        <p:spPr>
          <a:xfrm>
            <a:off x="8138160" y="868680"/>
            <a:ext cx="37033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arte ARTCI titre"/>
          <p:cNvSpPr txBox="1"/>
          <p:nvPr/>
        </p:nvSpPr>
        <p:spPr>
          <a:xfrm>
            <a:off x="8339328" y="10332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Loi n° 2013-450 (ARTCI)</a:t>
            </a:r>
          </a:p>
        </p:txBody>
      </p:sp>
      <p:sp>
        <p:nvSpPr>
          <p:cNvPr id="11" name="Carte ARTCI texte"/>
          <p:cNvSpPr txBox="1"/>
          <p:nvPr/>
        </p:nvSpPr>
        <p:spPr>
          <a:xfrm>
            <a:off x="8339328" y="1417320"/>
            <a:ext cx="33009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Consentement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daté sur la candidature en ligne.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Accès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export de tout ce qui est détenu sur un élève.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Effacement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anonymisation d'un dossier archivé ; notes et comptes conservés sans nom.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Conservation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durée réglable par école, 5 ans par défaut.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Reste à faire hors code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déclaration à l'ARTCI et registre des traitements.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6408115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11. PAIEMENTS, SMS ET TÂCHES PLANIFIÉES</a:t>
            </a:r>
          </a:p>
        </p:txBody>
      </p:sp>
      <p:sp>
        <p:nvSpPr>
          <p:cNvPr id="3" name="Carte Paiement"/>
          <p:cNvSpPr/>
          <p:nvPr/>
        </p:nvSpPr>
        <p:spPr>
          <a:xfrm>
            <a:off x="365760" y="868680"/>
            <a:ext cx="37033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arte Paiement titre"/>
          <p:cNvSpPr txBox="1"/>
          <p:nvPr/>
        </p:nvSpPr>
        <p:spPr>
          <a:xfrm>
            <a:off x="566928" y="10332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Paiement en ligne (CinetPay)</a:t>
            </a:r>
          </a:p>
        </p:txBody>
      </p:sp>
      <p:sp>
        <p:nvSpPr>
          <p:cNvPr id="5" name="Carte Paiement texte"/>
          <p:cNvSpPr txBox="1"/>
          <p:nvPr/>
        </p:nvSpPr>
        <p:spPr>
          <a:xfrm>
            <a:off x="566928" y="1417320"/>
            <a:ext cx="33009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Un lien de paiement crée un paiement « en attente ».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CinetPay notifie /api/payments/cinetpay/notify ; la signature est vérifiée.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L'API redemande l'état à CinetPay avant de marquer « encaissé », et contrôle le montant.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Sans clés : passerelle simulée, refusée en production.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À valider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la signature n'a pas été essayée contre le service réel.</a:t>
            </a:r>
          </a:p>
        </p:txBody>
      </p:sp>
      <p:sp>
        <p:nvSpPr>
          <p:cNvPr id="6" name="Carte SMS"/>
          <p:cNvSpPr/>
          <p:nvPr/>
        </p:nvSpPr>
        <p:spPr>
          <a:xfrm>
            <a:off x="4251960" y="868680"/>
            <a:ext cx="37033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arte SMS titre"/>
          <p:cNvSpPr txBox="1"/>
          <p:nvPr/>
        </p:nvSpPr>
        <p:spPr>
          <a:xfrm>
            <a:off x="4453128" y="10332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SMS et WhatsApp</a:t>
            </a:r>
          </a:p>
        </p:txBody>
      </p:sp>
      <p:sp>
        <p:nvSpPr>
          <p:cNvPr id="8" name="Carte SMS texte"/>
          <p:cNvSpPr txBox="1"/>
          <p:nvPr/>
        </p:nvSpPr>
        <p:spPr>
          <a:xfrm>
            <a:off x="4453128" y="1417320"/>
            <a:ext cx="33009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Fournisseur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SMS_PROVIDER = log, orange ou twilio.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Événements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absence, reçu de paiement, relance d'impayé, convocation, sanction grave.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Garde-fous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plafond mensuel par école, un seul envoi par événement, refus par parent, journal complet.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Avec « log », rien n'est envoyé : les messages sont seulement consignés.</a:t>
            </a:r>
          </a:p>
        </p:txBody>
      </p:sp>
      <p:sp>
        <p:nvSpPr>
          <p:cNvPr id="9" name="Carte Tâches"/>
          <p:cNvSpPr/>
          <p:nvPr/>
        </p:nvSpPr>
        <p:spPr>
          <a:xfrm>
            <a:off x="8138160" y="868680"/>
            <a:ext cx="37033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arte Tâches titre"/>
          <p:cNvSpPr txBox="1"/>
          <p:nvPr/>
        </p:nvSpPr>
        <p:spPr>
          <a:xfrm>
            <a:off x="8339328" y="1033272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Tâches planifiées</a:t>
            </a:r>
          </a:p>
        </p:txBody>
      </p:sp>
      <p:sp>
        <p:nvSpPr>
          <p:cNvPr id="11" name="Carte Tâches texte"/>
          <p:cNvSpPr txBox="1"/>
          <p:nvPr/>
        </p:nvSpPr>
        <p:spPr>
          <a:xfrm>
            <a:off x="8339328" y="1417320"/>
            <a:ext cx="33009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Chaque matin (SCHEDULER_HOUR, 8 h)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factures échues passées « en retard », puis relances.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Chaque lundi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synthèse de la semaine envoyée à la direction par e-mail.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Verrou Redis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une seule exécution même avec plusieurs instances.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Désactivation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SCHEDULER_ENABLED=false.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Code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src/messaging/messaging.scheduler.ts.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2948026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12. CONFIGURATION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Variables d'environnement. Modèle : deploy/.env.production.example. Contrôle : src/infra/env.ts.</a:t>
            </a:r>
          </a:p>
        </p:txBody>
      </p:sp>
      <p:sp>
        <p:nvSpPr>
          <p:cNvPr id="4" name="Carte Obligatoires"/>
          <p:cNvSpPr/>
          <p:nvPr/>
        </p:nvSpPr>
        <p:spPr>
          <a:xfrm>
            <a:off x="365760" y="1325880"/>
            <a:ext cx="5646420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arte Obligatoires titre"/>
          <p:cNvSpPr txBox="1"/>
          <p:nvPr/>
        </p:nvSpPr>
        <p:spPr>
          <a:xfrm>
            <a:off x="566928" y="14904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Obligatoires en production</a:t>
            </a:r>
          </a:p>
        </p:txBody>
      </p:sp>
      <p:sp>
        <p:nvSpPr>
          <p:cNvPr id="6" name="Carte Obligatoires texte"/>
          <p:cNvSpPr txBox="1"/>
          <p:nvPr/>
        </p:nvSpPr>
        <p:spPr>
          <a:xfrm>
            <a:off x="566928" y="1874520"/>
            <a:ext cx="5244084" cy="3995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PUBLIC_URL            adresse https du site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DB_USER, DB_PASSWORD, DB_NAME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REDIS_PASSWORD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JWT_SECRET            32 caractères au moins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DATA_ENCRYPTION_KEY   32 octets en base64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BACKUP_PASSPHRASE     chiffrement des sauvegardes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/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Générer un secret :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openssl rand -base64 48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openssl rand -base64 32   (clé de chiffrement)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/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À conserver hors du serveur :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DATA_ENCRYPTION_KEY et BACKUP_PASSPHRASE.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Sans elles, données chiffrées et sauvegardes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sont illisibles.</a:t>
            </a:r>
          </a:p>
        </p:txBody>
      </p:sp>
      <p:sp>
        <p:nvSpPr>
          <p:cNvPr id="7" name="Carte Optionnelles"/>
          <p:cNvSpPr/>
          <p:nvPr/>
        </p:nvSpPr>
        <p:spPr>
          <a:xfrm>
            <a:off x="6195060" y="1325880"/>
            <a:ext cx="5646420" cy="4709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arte Optionnelles titre"/>
          <p:cNvSpPr txBox="1"/>
          <p:nvPr/>
        </p:nvSpPr>
        <p:spPr>
          <a:xfrm>
            <a:off x="6396228" y="14904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Optionnelles</a:t>
            </a:r>
          </a:p>
        </p:txBody>
      </p:sp>
      <p:sp>
        <p:nvSpPr>
          <p:cNvPr id="9" name="Carte Optionnelles texte"/>
          <p:cNvSpPr txBox="1"/>
          <p:nvPr/>
        </p:nvSpPr>
        <p:spPr>
          <a:xfrm>
            <a:off x="6396228" y="1874520"/>
            <a:ext cx="5244084" cy="3995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MAIL_HOST, MAIL_PORT, MAIL_USER, MAIL_PASS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SMS_PROVIDER, ORANGE_SMS_*, TWILIO_*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CINETPAY_API_KEY, _SITE_ID, _SECRET_KEY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STORAGE_DRIVER=s3, S3_ENDPOINT, S3_BUCKET,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S3_ACCESS_KEY, S3_SECRET_KEY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CLAMAV_HOST, CLAMAV_REQUIRED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SENTRY_DSN, METRICS_TOKEN, LOG_LEVEL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SCHEDULER_HOUR, SCHEDULER_ENABLED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TOTP_REQUIRED_ROLES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ACCESS_TOKEN_TTL, REFRESH_TOKEN_DAYS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BACKUP_RETENTION_DAYS, RCLONE_REMOTE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ANTHROPIC_API_KEY, DIFY_*_API_KEY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/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Web (au moment de la construction) :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NEXT_PUBLIC_API_URL, NEXT_PUBLIC_DEMO_ACCOUNTS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4835347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13. DÉPLOIEMENT EN PRODUCTION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Serveur Linux avec Docker (2 vCPU, 4 Go de RAM, 40 Go de disque). Détail pas à pas : docs/DEPLOIEMENT.md.</a:t>
            </a:r>
          </a:p>
        </p:txBody>
      </p:sp>
      <p:sp>
        <p:nvSpPr>
          <p:cNvPr id="4" name="Étape 1"/>
          <p:cNvSpPr/>
          <p:nvPr/>
        </p:nvSpPr>
        <p:spPr>
          <a:xfrm>
            <a:off x="365760" y="1325880"/>
            <a:ext cx="2734056" cy="2514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Numéro étape 1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e étape 1"/>
          <p:cNvSpPr txBox="1"/>
          <p:nvPr/>
        </p:nvSpPr>
        <p:spPr>
          <a:xfrm>
            <a:off x="640080" y="2286000"/>
            <a:ext cx="2185416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Préparer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Cloner le dépôt, copier deploy/.env.production.example en .env.production et remplir chaque valeur.</a:t>
            </a:r>
          </a:p>
        </p:txBody>
      </p:sp>
      <p:sp>
        <p:nvSpPr>
          <p:cNvPr id="7" name="Étape 2"/>
          <p:cNvSpPr/>
          <p:nvPr/>
        </p:nvSpPr>
        <p:spPr>
          <a:xfrm>
            <a:off x="3282696" y="1325880"/>
            <a:ext cx="2734056" cy="2514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Numéro étape 2"/>
          <p:cNvSpPr/>
          <p:nvPr/>
        </p:nvSpPr>
        <p:spPr>
          <a:xfrm>
            <a:off x="3557016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e étape 2"/>
          <p:cNvSpPr txBox="1"/>
          <p:nvPr/>
        </p:nvSpPr>
        <p:spPr>
          <a:xfrm>
            <a:off x="3557016" y="2286000"/>
            <a:ext cx="2185416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Certificat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Placer fullchain.pem et privkey.pem dans deploy/certs (Let's Encrypt).</a:t>
            </a:r>
          </a:p>
        </p:txBody>
      </p:sp>
      <p:sp>
        <p:nvSpPr>
          <p:cNvPr id="10" name="Étape 3"/>
          <p:cNvSpPr/>
          <p:nvPr/>
        </p:nvSpPr>
        <p:spPr>
          <a:xfrm>
            <a:off x="6199632" y="1325880"/>
            <a:ext cx="2734056" cy="2514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Numéro étape 3"/>
          <p:cNvSpPr/>
          <p:nvPr/>
        </p:nvSpPr>
        <p:spPr>
          <a:xfrm>
            <a:off x="6473952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e étape 3"/>
          <p:cNvSpPr txBox="1"/>
          <p:nvPr/>
        </p:nvSpPr>
        <p:spPr>
          <a:xfrm>
            <a:off x="6473952" y="2286000"/>
            <a:ext cx="2185416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Démarrer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docker compose avec le fichier de production. Les migrations s'appliquent seules.</a:t>
            </a:r>
          </a:p>
        </p:txBody>
      </p:sp>
      <p:sp>
        <p:nvSpPr>
          <p:cNvPr id="13" name="Étape 4"/>
          <p:cNvSpPr/>
          <p:nvPr/>
        </p:nvSpPr>
        <p:spPr>
          <a:xfrm>
            <a:off x="9116568" y="1325880"/>
            <a:ext cx="2724912" cy="2514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Numéro étape 4"/>
          <p:cNvSpPr/>
          <p:nvPr/>
        </p:nvSpPr>
        <p:spPr>
          <a:xfrm>
            <a:off x="9390888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Texte étape 4"/>
          <p:cNvSpPr txBox="1"/>
          <p:nvPr/>
        </p:nvSpPr>
        <p:spPr>
          <a:xfrm>
            <a:off x="9390888" y="2286000"/>
            <a:ext cx="217627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Premier compte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Créer l'organisation, l'école et le directeur avec la commande du guide, puis activer la 2FA.</a:t>
            </a:r>
          </a:p>
        </p:txBody>
      </p:sp>
      <p:sp>
        <p:nvSpPr>
          <p:cNvPr id="16" name="Carte Commandes"/>
          <p:cNvSpPr/>
          <p:nvPr/>
        </p:nvSpPr>
        <p:spPr>
          <a:xfrm>
            <a:off x="365760" y="4023360"/>
            <a:ext cx="6949440" cy="20116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arte Commandes titre"/>
          <p:cNvSpPr txBox="1"/>
          <p:nvPr/>
        </p:nvSpPr>
        <p:spPr>
          <a:xfrm>
            <a:off x="566928" y="4187952"/>
            <a:ext cx="6547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Commandes</a:t>
            </a:r>
          </a:p>
        </p:txBody>
      </p:sp>
      <p:sp>
        <p:nvSpPr>
          <p:cNvPr id="18" name="Carte Commandes texte"/>
          <p:cNvSpPr txBox="1"/>
          <p:nvPr/>
        </p:nvSpPr>
        <p:spPr>
          <a:xfrm>
            <a:off x="566928" y="4572000"/>
            <a:ext cx="6547104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compose -f docker-compose.prod.yml \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--env-file .env.production up -d --build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curl -s https://ecole.example.ci/api/health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git pull, puis la même commande : mise à jour</a:t>
            </a:r>
          </a:p>
        </p:txBody>
      </p:sp>
      <p:sp>
        <p:nvSpPr>
          <p:cNvPr id="19" name="Carte Différences"/>
          <p:cNvSpPr/>
          <p:nvPr/>
        </p:nvSpPr>
        <p:spPr>
          <a:xfrm>
            <a:off x="7498080" y="4023360"/>
            <a:ext cx="4343400" cy="20116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arte Différences titre"/>
          <p:cNvSpPr txBox="1"/>
          <p:nvPr/>
        </p:nvSpPr>
        <p:spPr>
          <a:xfrm>
            <a:off x="7699248" y="4187952"/>
            <a:ext cx="39410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Ce qui change par rapport au développement</a:t>
            </a:r>
          </a:p>
        </p:txBody>
      </p:sp>
      <p:sp>
        <p:nvSpPr>
          <p:cNvPr id="21" name="Carte Différences texte"/>
          <p:cNvSpPr txBox="1"/>
          <p:nvPr/>
        </p:nvSpPr>
        <p:spPr>
          <a:xfrm>
            <a:off x="7699248" y="4572000"/>
            <a:ext cx="3941064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Images construites, sans code monté.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nginx en HTTPS devant le site et l'API.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Aucune donnée de démonstration, Swagger fermé.</a:t>
            </a:r>
          </a:p>
          <a:p>
            <a:pPr marL="201168" indent="-201168" algn="l">
              <a:spcAft>
                <a:spcPts val="2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Service de sauvegarde actif.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4992624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14. SAUVEGARDES ET SUPERVISION</a:t>
            </a:r>
          </a:p>
        </p:txBody>
      </p:sp>
      <p:sp>
        <p:nvSpPr>
          <p:cNvPr id="3" name="KPI Sauvegarde nocturne"/>
          <p:cNvSpPr/>
          <p:nvPr/>
        </p:nvSpPr>
        <p:spPr>
          <a:xfrm>
            <a:off x="365760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ccent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KPI Sauvegarde nocturne texte"/>
          <p:cNvSpPr txBox="1"/>
          <p:nvPr/>
        </p:nvSpPr>
        <p:spPr>
          <a:xfrm>
            <a:off x="594360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02:30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Sauvegarde nocturne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base et fichiers, chiffrés AES-256</a:t>
            </a:r>
          </a:p>
        </p:txBody>
      </p:sp>
      <p:sp>
        <p:nvSpPr>
          <p:cNvPr id="6" name="KPI Rétention"/>
          <p:cNvSpPr/>
          <p:nvPr/>
        </p:nvSpPr>
        <p:spPr>
          <a:xfrm>
            <a:off x="3282696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ccent"/>
          <p:cNvSpPr/>
          <p:nvPr/>
        </p:nvSpPr>
        <p:spPr>
          <a:xfrm>
            <a:off x="3282696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KPI Rétention texte"/>
          <p:cNvSpPr txBox="1"/>
          <p:nvPr/>
        </p:nvSpPr>
        <p:spPr>
          <a:xfrm>
            <a:off x="3511296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30 jours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Rétention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BACKUP_RETENTION_DAYS</a:t>
            </a:r>
          </a:p>
        </p:txBody>
      </p:sp>
      <p:sp>
        <p:nvSpPr>
          <p:cNvPr id="9" name="KPI Test de restauration"/>
          <p:cNvSpPr/>
          <p:nvPr/>
        </p:nvSpPr>
        <p:spPr>
          <a:xfrm>
            <a:off x="6199632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ccent"/>
          <p:cNvSpPr/>
          <p:nvPr/>
        </p:nvSpPr>
        <p:spPr>
          <a:xfrm>
            <a:off x="6199632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KPI Test de restauration texte"/>
          <p:cNvSpPr txBox="1"/>
          <p:nvPr/>
        </p:nvSpPr>
        <p:spPr>
          <a:xfrm>
            <a:off x="6428232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1er du mois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Test de restauration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dans une base temporaire</a:t>
            </a:r>
          </a:p>
        </p:txBody>
      </p:sp>
      <p:sp>
        <p:nvSpPr>
          <p:cNvPr id="12" name="KPI Contrôle de santé"/>
          <p:cNvSpPr/>
          <p:nvPr/>
        </p:nvSpPr>
        <p:spPr>
          <a:xfrm>
            <a:off x="9116568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ent"/>
          <p:cNvSpPr/>
          <p:nvPr/>
        </p:nvSpPr>
        <p:spPr>
          <a:xfrm>
            <a:off x="9116568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KPI Contrôle de santé texte"/>
          <p:cNvSpPr txBox="1"/>
          <p:nvPr/>
        </p:nvSpPr>
        <p:spPr>
          <a:xfrm>
            <a:off x="9345168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200" b="1" dirty="0">
                <a:solidFill>
                  <a:srgbClr val="F16E00"/>
                </a:solidFill>
                <a:latin typeface="Arial"/>
                <a:cs typeface="Arial"/>
              </a:rPr>
              <a:t>/api/health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Contrôle de santé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503 si la base ne répond pas</a:t>
            </a:r>
          </a:p>
        </p:txBody>
      </p:sp>
      <p:sp>
        <p:nvSpPr>
          <p:cNvPr id="15" name="Carte Sauvegardes"/>
          <p:cNvSpPr/>
          <p:nvPr/>
        </p:nvSpPr>
        <p:spPr>
          <a:xfrm>
            <a:off x="365760" y="2468880"/>
            <a:ext cx="5646420" cy="3566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arte Sauvegardes titre"/>
          <p:cNvSpPr txBox="1"/>
          <p:nvPr/>
        </p:nvSpPr>
        <p:spPr>
          <a:xfrm>
            <a:off x="566928" y="26334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Sauvegardes (service backup)</a:t>
            </a:r>
          </a:p>
        </p:txBody>
      </p:sp>
      <p:sp>
        <p:nvSpPr>
          <p:cNvPr id="17" name="Carte Sauvegardes texte"/>
          <p:cNvSpPr txBox="1"/>
          <p:nvPr/>
        </p:nvSpPr>
        <p:spPr>
          <a:xfrm>
            <a:off x="566928" y="3017520"/>
            <a:ext cx="5244084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sauvegarde immédiate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compose -f docker-compose.prod.yml \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exec backup backup.sh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test de restauration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exec backup verify.sh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restauration complète (API arrêtée)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stop backend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exec backup restore.sh latest --files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  start backend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copie hors site : RCLONE_REMOTE</a:t>
            </a:r>
          </a:p>
        </p:txBody>
      </p:sp>
      <p:sp>
        <p:nvSpPr>
          <p:cNvPr id="18" name="Carte Supervision"/>
          <p:cNvSpPr/>
          <p:nvPr/>
        </p:nvSpPr>
        <p:spPr>
          <a:xfrm>
            <a:off x="6195060" y="2468880"/>
            <a:ext cx="5646420" cy="3566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arte Supervision titre"/>
          <p:cNvSpPr txBox="1"/>
          <p:nvPr/>
        </p:nvSpPr>
        <p:spPr>
          <a:xfrm>
            <a:off x="6396228" y="26334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Supervision</a:t>
            </a:r>
          </a:p>
        </p:txBody>
      </p:sp>
      <p:sp>
        <p:nvSpPr>
          <p:cNvPr id="20" name="Carte Supervision texte"/>
          <p:cNvSpPr txBox="1"/>
          <p:nvPr/>
        </p:nvSpPr>
        <p:spPr>
          <a:xfrm>
            <a:off x="6396228" y="3017520"/>
            <a:ext cx="5244084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Journaux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JSON en production, un identifiant par requête, repris dans les messages d'erreur.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Métriques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/api/metrics au format Prometheus, protégé par METRICS_TOKEN.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Alertes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règles prêtes dans deploy/monitoring/alerts.yml (API ou base indisponible, erreurs, lenteur, mémoire).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Erreurs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Sentry si SENTRY_DSN est renseigné, y compris celles du navigateur.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3419856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15. TESTS ET QUALITÉ</a:t>
            </a:r>
          </a:p>
        </p:txBody>
      </p:sp>
      <p:sp>
        <p:nvSpPr>
          <p:cNvPr id="3" name="KPI Tests unitaires API"/>
          <p:cNvSpPr/>
          <p:nvPr/>
        </p:nvSpPr>
        <p:spPr>
          <a:xfrm>
            <a:off x="365760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ccent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KPI Tests unitaires API texte"/>
          <p:cNvSpPr txBox="1"/>
          <p:nvPr/>
        </p:nvSpPr>
        <p:spPr>
          <a:xfrm>
            <a:off x="594360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191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Tests unitaires API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règles de calcul</a:t>
            </a:r>
          </a:p>
        </p:txBody>
      </p:sp>
      <p:sp>
        <p:nvSpPr>
          <p:cNvPr id="6" name="KPI Vérifications de bout en bout"/>
          <p:cNvSpPr/>
          <p:nvPr/>
        </p:nvSpPr>
        <p:spPr>
          <a:xfrm>
            <a:off x="3282696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ccent"/>
          <p:cNvSpPr/>
          <p:nvPr/>
        </p:nvSpPr>
        <p:spPr>
          <a:xfrm>
            <a:off x="3282696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KPI Vérifications de bout en bout texte"/>
          <p:cNvSpPr txBox="1"/>
          <p:nvPr/>
        </p:nvSpPr>
        <p:spPr>
          <a:xfrm>
            <a:off x="3511296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326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Vérifications de bout en bout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16 scénarios sur l'API réelle</a:t>
            </a:r>
          </a:p>
        </p:txBody>
      </p:sp>
      <p:sp>
        <p:nvSpPr>
          <p:cNvPr id="9" name="KPI Tests unitaires web"/>
          <p:cNvSpPr/>
          <p:nvPr/>
        </p:nvSpPr>
        <p:spPr>
          <a:xfrm>
            <a:off x="6199632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ccent"/>
          <p:cNvSpPr/>
          <p:nvPr/>
        </p:nvSpPr>
        <p:spPr>
          <a:xfrm>
            <a:off x="6199632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KPI Tests unitaires web texte"/>
          <p:cNvSpPr txBox="1"/>
          <p:nvPr/>
        </p:nvSpPr>
        <p:spPr>
          <a:xfrm>
            <a:off x="6428232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30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Tests unitaires web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client API, hors ligne, langues</a:t>
            </a:r>
          </a:p>
        </p:txBody>
      </p:sp>
      <p:sp>
        <p:nvSpPr>
          <p:cNvPr id="12" name="KPI Tests navigateur"/>
          <p:cNvSpPr/>
          <p:nvPr/>
        </p:nvSpPr>
        <p:spPr>
          <a:xfrm>
            <a:off x="9116568" y="868680"/>
            <a:ext cx="2734056" cy="14173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ent"/>
          <p:cNvSpPr/>
          <p:nvPr/>
        </p:nvSpPr>
        <p:spPr>
          <a:xfrm>
            <a:off x="9116568" y="1051560"/>
            <a:ext cx="54864" cy="1051560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KPI Tests navigateur texte"/>
          <p:cNvSpPr txBox="1"/>
          <p:nvPr/>
        </p:nvSpPr>
        <p:spPr>
          <a:xfrm>
            <a:off x="9345168" y="1005840"/>
            <a:ext cx="2368296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2600" b="1" dirty="0">
                <a:solidFill>
                  <a:srgbClr val="F16E00"/>
                </a:solidFill>
                <a:latin typeface="Arial"/>
                <a:cs typeface="Arial"/>
              </a:rPr>
              <a:t>27</a:t>
            </a:r>
          </a:p>
          <a:p>
            <a:pPr algn="l">
              <a:spcAft>
                <a:spcPts val="200"/>
              </a:spcAft>
            </a:pPr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Tests navigateur</a:t>
            </a:r>
          </a:p>
          <a:p>
            <a:pPr algn="l">
              <a:spcAft>
                <a:spcPts val="0"/>
              </a:spcAft>
            </a:pPr>
            <a:r>
              <a:rPr lang="fr-FR" sz="950" b="0" dirty="0">
                <a:solidFill>
                  <a:srgbClr val="B3B3B3"/>
                </a:solidFill>
                <a:latin typeface="Arial"/>
                <a:cs typeface="Arial"/>
              </a:rPr>
              <a:t>parcours et accessibilité</a:t>
            </a:r>
          </a:p>
        </p:txBody>
      </p:sp>
      <p:sp>
        <p:nvSpPr>
          <p:cNvPr id="15" name="Carte Lancer"/>
          <p:cNvSpPr/>
          <p:nvPr/>
        </p:nvSpPr>
        <p:spPr>
          <a:xfrm>
            <a:off x="365760" y="2468880"/>
            <a:ext cx="6675120" cy="3566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arte Lancer titre"/>
          <p:cNvSpPr txBox="1"/>
          <p:nvPr/>
        </p:nvSpPr>
        <p:spPr>
          <a:xfrm>
            <a:off x="566928" y="2633472"/>
            <a:ext cx="62727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Lancer les tests (dans les conteneurs)</a:t>
            </a:r>
          </a:p>
        </p:txBody>
      </p:sp>
      <p:sp>
        <p:nvSpPr>
          <p:cNvPr id="17" name="Carte Lancer texte"/>
          <p:cNvSpPr txBox="1"/>
          <p:nvPr/>
        </p:nvSpPr>
        <p:spPr>
          <a:xfrm>
            <a:off x="566928" y="3017520"/>
            <a:ext cx="6272784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API : types, style, tests unitaires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exec school-backend npx tsc --noEmit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exec school-backend npx eslint src --ext .ts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exec school-backend npx jest --runInBand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API : bout en bout (copier test/ d'abord)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cp backend/test/. school-backend:/app/test/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exec school-backend sh test/run-e2e.sh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# Web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exec school-frontend npx vitest run</a:t>
            </a:r>
          </a:p>
          <a:p>
            <a:pPr algn="l">
              <a:spcAft>
                <a:spcPts val="150"/>
              </a:spcAft>
            </a:pPr>
            <a:r>
              <a:rPr lang="fr-FR" sz="1050" b="0" dirty="0">
                <a:solidFill>
                  <a:srgbClr val="FFFFFF"/>
                </a:solidFill>
                <a:latin typeface="Courier New"/>
                <a:cs typeface="Courier New"/>
              </a:rPr>
              <a:t>docker exec school-frontend npx playwright test</a:t>
            </a:r>
          </a:p>
        </p:txBody>
      </p:sp>
      <p:sp>
        <p:nvSpPr>
          <p:cNvPr id="18" name="Carte CI"/>
          <p:cNvSpPr/>
          <p:nvPr/>
        </p:nvSpPr>
        <p:spPr>
          <a:xfrm>
            <a:off x="7223760" y="2468880"/>
            <a:ext cx="4617720" cy="35661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arte CI titre"/>
          <p:cNvSpPr txBox="1"/>
          <p:nvPr/>
        </p:nvSpPr>
        <p:spPr>
          <a:xfrm>
            <a:off x="7424928" y="2633472"/>
            <a:ext cx="4215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À savoir</a:t>
            </a:r>
          </a:p>
        </p:txBody>
      </p:sp>
      <p:sp>
        <p:nvSpPr>
          <p:cNvPr id="20" name="Carte CI texte"/>
          <p:cNvSpPr txBox="1"/>
          <p:nvPr/>
        </p:nvSpPr>
        <p:spPr>
          <a:xfrm>
            <a:off x="7424928" y="3017520"/>
            <a:ext cx="4215384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Le poste de développement a peu de mémoire : Jest avec --runInBand, images construites une par une.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Seuls src/ et prisma/ sont montés dans les conteneurs ; le reste se copie avec docker cp.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La CI GitHub rejoue tout à chaque PR et vérifie que les migrations reconstruisent le schéma.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150" b="0" dirty="0">
                <a:solidFill>
                  <a:srgbClr val="FFFFFF"/>
                </a:solidFill>
                <a:latin typeface="Arial"/>
                <a:cs typeface="Arial"/>
              </a:rPr>
              <a:t>La CI n'a pas encore tourné : la branche n'est pas poussée.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4048963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16. PROCÉDURES COURANTES</a:t>
            </a:r>
          </a:p>
        </p:txBody>
      </p:sp>
      <p:sp>
        <p:nvSpPr>
          <p:cNvPr id="3" name="Carte Schéma"/>
          <p:cNvSpPr/>
          <p:nvPr/>
        </p:nvSpPr>
        <p:spPr>
          <a:xfrm>
            <a:off x="365760" y="868680"/>
            <a:ext cx="5646420" cy="2514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arte Schéma titre"/>
          <p:cNvSpPr txBox="1"/>
          <p:nvPr/>
        </p:nvSpPr>
        <p:spPr>
          <a:xfrm>
            <a:off x="566928" y="10332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Modifier le modèle de données</a:t>
            </a:r>
          </a:p>
        </p:txBody>
      </p:sp>
      <p:sp>
        <p:nvSpPr>
          <p:cNvPr id="5" name="Carte Schéma texte"/>
          <p:cNvSpPr txBox="1"/>
          <p:nvPr/>
        </p:nvSpPr>
        <p:spPr>
          <a:xfrm>
            <a:off x="566928" y="1417320"/>
            <a:ext cx="5244084" cy="1801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Modifier backend/prisma/schema.prisma.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Créer la migration : docker compose exec backend npx prisma migrate dev --name description.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Commiter le schéma et le dossier de migration. Ne jamais utiliser db push en production.</a:t>
            </a:r>
          </a:p>
        </p:txBody>
      </p:sp>
      <p:sp>
        <p:nvSpPr>
          <p:cNvPr id="6" name="Carte Module"/>
          <p:cNvSpPr/>
          <p:nvPr/>
        </p:nvSpPr>
        <p:spPr>
          <a:xfrm>
            <a:off x="6195060" y="868680"/>
            <a:ext cx="5646420" cy="2514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arte Module titre"/>
          <p:cNvSpPr txBox="1"/>
          <p:nvPr/>
        </p:nvSpPr>
        <p:spPr>
          <a:xfrm>
            <a:off x="6396228" y="10332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Ajouter un module à l'API</a:t>
            </a:r>
          </a:p>
        </p:txBody>
      </p:sp>
      <p:sp>
        <p:nvSpPr>
          <p:cNvPr id="8" name="Carte Module texte"/>
          <p:cNvSpPr txBox="1"/>
          <p:nvPr/>
        </p:nvSpPr>
        <p:spPr>
          <a:xfrm>
            <a:off x="6396228" y="1417320"/>
            <a:ext cx="5244084" cy="1801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Créer src/&lt;nom&gt;/ avec module, contrôleur et service.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Déclarer le module dans src/app.module.ts.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Filtrer chaque requête par user.schoolId et poser @Roles sur chaque route.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Ajouter un scénario test/e2e-&lt;nom&gt;.js à run-e2e.sh et à la CI.</a:t>
            </a:r>
          </a:p>
        </p:txBody>
      </p:sp>
      <p:sp>
        <p:nvSpPr>
          <p:cNvPr id="9" name="Carte Écran"/>
          <p:cNvSpPr/>
          <p:nvPr/>
        </p:nvSpPr>
        <p:spPr>
          <a:xfrm>
            <a:off x="365760" y="3566160"/>
            <a:ext cx="5646420" cy="2468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arte Écran titre"/>
          <p:cNvSpPr txBox="1"/>
          <p:nvPr/>
        </p:nvSpPr>
        <p:spPr>
          <a:xfrm>
            <a:off x="566928" y="373075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Ajouter un écran</a:t>
            </a:r>
          </a:p>
        </p:txBody>
      </p:sp>
      <p:sp>
        <p:nvSpPr>
          <p:cNvPr id="11" name="Carte Écran texte"/>
          <p:cNvSpPr txBox="1"/>
          <p:nvPr/>
        </p:nvSpPr>
        <p:spPr>
          <a:xfrm>
            <a:off x="566928" y="4114800"/>
            <a:ext cx="5244084" cy="175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Créer src/app/&lt;page&gt;/page.tsx, enveloppé dans &lt;Shell&gt;.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Appeler l'API par lib/api.ts, jamais par fetch direct.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Ajouter l'entrée de menu et ses rôles dans Shell.tsx.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Ajouter la page à e2e/a11y.spec.ts (audit d'accessibilité).</a:t>
            </a:r>
          </a:p>
        </p:txBody>
      </p:sp>
      <p:sp>
        <p:nvSpPr>
          <p:cNvPr id="12" name="Carte Dépendance"/>
          <p:cNvSpPr/>
          <p:nvPr/>
        </p:nvSpPr>
        <p:spPr>
          <a:xfrm>
            <a:off x="6195060" y="3566160"/>
            <a:ext cx="5646420" cy="2468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Carte Dépendance titre"/>
          <p:cNvSpPr txBox="1"/>
          <p:nvPr/>
        </p:nvSpPr>
        <p:spPr>
          <a:xfrm>
            <a:off x="6396228" y="373075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Ajouter une dépendance</a:t>
            </a:r>
          </a:p>
        </p:txBody>
      </p:sp>
      <p:sp>
        <p:nvSpPr>
          <p:cNvPr id="14" name="Carte Dépendance texte"/>
          <p:cNvSpPr txBox="1"/>
          <p:nvPr/>
        </p:nvSpPr>
        <p:spPr>
          <a:xfrm>
            <a:off x="6396228" y="4114800"/>
            <a:ext cx="5244084" cy="175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L'installer dans le conteneur : docker exec school-backend npm install &lt;paquet&gt;.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Recopier package.json et package-lock.json vers le poste avec docker cp, après comparaison.</a:t>
            </a:r>
          </a:p>
          <a:p>
            <a:pPr marL="201168" indent="-201168" algn="l">
              <a:spcAft>
                <a:spcPts val="35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Reconstruire l'image avant de recréer le conteneur.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2318918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17. DÉPANNAGE</a:t>
            </a:r>
          </a:p>
        </p:txBody>
      </p:sp>
      <p:sp>
        <p:nvSpPr>
          <p:cNvPr id="3" name="Carte Démarrage"/>
          <p:cNvSpPr/>
          <p:nvPr/>
        </p:nvSpPr>
        <p:spPr>
          <a:xfrm>
            <a:off x="365760" y="868680"/>
            <a:ext cx="56464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arte Démarrage titre"/>
          <p:cNvSpPr txBox="1"/>
          <p:nvPr/>
        </p:nvSpPr>
        <p:spPr>
          <a:xfrm>
            <a:off x="566928" y="10332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Au démarrage</a:t>
            </a:r>
          </a:p>
        </p:txBody>
      </p:sp>
      <p:sp>
        <p:nvSpPr>
          <p:cNvPr id="5" name="Carte Démarrage texte"/>
          <p:cNvSpPr txBox="1"/>
          <p:nvPr/>
        </p:nvSpPr>
        <p:spPr>
          <a:xfrm>
            <a:off x="566928" y="1417320"/>
            <a:ext cx="52440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L'API refuse de démarrer en production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un secret manque, est trop court ou garde une valeur d'exemple. Le message nomme la variable.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La construction échoue sur « DNS »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coupure réseau passagère derrière le proxy ; relancer.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Construction interrompue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mémoire insuffisante ; fermer des applications et construire une image à la fois.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L'API ne voit pas un changement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docker compose restart backend.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Erreur Prisma après un changement de schéma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relancer npx prisma generate dans le conteneur.</a:t>
            </a:r>
          </a:p>
        </p:txBody>
      </p:sp>
      <p:sp>
        <p:nvSpPr>
          <p:cNvPr id="6" name="Carte Usage"/>
          <p:cNvSpPr/>
          <p:nvPr/>
        </p:nvSpPr>
        <p:spPr>
          <a:xfrm>
            <a:off x="6195060" y="868680"/>
            <a:ext cx="5646420" cy="51663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arte Usage titre"/>
          <p:cNvSpPr txBox="1"/>
          <p:nvPr/>
        </p:nvSpPr>
        <p:spPr>
          <a:xfrm>
            <a:off x="6396228" y="103327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À l'usage</a:t>
            </a:r>
          </a:p>
        </p:txBody>
      </p:sp>
      <p:sp>
        <p:nvSpPr>
          <p:cNvPr id="8" name="Carte Usage texte"/>
          <p:cNvSpPr txBox="1"/>
          <p:nvPr/>
        </p:nvSpPr>
        <p:spPr>
          <a:xfrm>
            <a:off x="6396228" y="1417320"/>
            <a:ext cx="5244084" cy="4453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« Trop de tentatives »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10 échecs de connexion bloquent 15 minutes ; 3 réinitialisations par heure.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Les e-mails n'arrivent pas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en développement ils sont dans MailHog (localhost:8025) ; en production vérifier MAIL_HOST.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Les SMS ne partent pas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SMS_PROVIDER=log, numéro invalide ou plafond atteint ; la raison est dans le journal des messages.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Données de santé vides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DATA_ENCRYPTION_KEY a changé ; restaurer la bonne clé.</a:t>
            </a:r>
          </a:p>
          <a:p>
            <a:pPr marL="201168" indent="-201168" algn="l">
              <a:spcAft>
                <a:spcPts val="5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1" dirty="0">
                <a:solidFill>
                  <a:srgbClr val="FFFFFF"/>
                </a:solidFill>
                <a:latin typeface="Arial"/>
                <a:cs typeface="Arial"/>
              </a:rPr>
              <a:t>Identifiant de requête : </a:t>
            </a: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présent dans chaque message d'erreur, à chercher dans les journaux.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109728" y="91440"/>
            <a:ext cx="4678070" cy="438912"/>
          </a:xfrm>
          <a:prstGeom prst="rect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Ins="109728" rtlCol="0" anchor="ctr"/>
          <a:lstStyle/>
          <a:p>
            <a:pPr algn="l"/>
            <a:r>
              <a:rPr lang="fr-FR" sz="2000" b="0" dirty="0">
                <a:solidFill>
                  <a:srgbClr val="FFFFFF"/>
                </a:solidFill>
                <a:latin typeface="Arial"/>
                <a:cs typeface="Arial"/>
              </a:rPr>
              <a:t>18. LIMITES CONNUES ET SUITE</a:t>
            </a:r>
          </a:p>
        </p:txBody>
      </p:sp>
      <p:sp>
        <p:nvSpPr>
          <p:cNvPr id="3" name="Chapeau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0" dirty="0">
                <a:solidFill>
                  <a:srgbClr val="B3B3B3"/>
                </a:solidFill>
                <a:latin typeface="Arial"/>
                <a:cs typeface="Arial"/>
              </a:rPr>
              <a:t>État détaillé point par point : docs/AMELIORATIONS.md.</a:t>
            </a:r>
          </a:p>
        </p:txBody>
      </p:sp>
      <p:sp>
        <p:nvSpPr>
          <p:cNvPr id="4" name="Étape 1"/>
          <p:cNvSpPr/>
          <p:nvPr/>
        </p:nvSpPr>
        <p:spPr>
          <a:xfrm>
            <a:off x="365760" y="13258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Numéro étape 1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e étape 1"/>
          <p:cNvSpPr txBox="1"/>
          <p:nvPr/>
        </p:nvSpPr>
        <p:spPr>
          <a:xfrm>
            <a:off x="640080" y="2286000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Comptes externes à ouvrir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CinetPay, Orange SMS ou Twilio : code prêt, pas encore essayé contre les services réels.</a:t>
            </a:r>
          </a:p>
        </p:txBody>
      </p:sp>
      <p:sp>
        <p:nvSpPr>
          <p:cNvPr id="7" name="Repère 1"/>
          <p:cNvSpPr/>
          <p:nvPr/>
        </p:nvSpPr>
        <p:spPr>
          <a:xfrm>
            <a:off x="640080" y="3337560"/>
            <a:ext cx="3154680" cy="41148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 w="12700">
            <a:solidFill>
              <a:srgbClr val="F1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Avant la mise en service</a:t>
            </a:r>
          </a:p>
        </p:txBody>
      </p:sp>
      <p:sp>
        <p:nvSpPr>
          <p:cNvPr id="8" name="Étape 2"/>
          <p:cNvSpPr/>
          <p:nvPr/>
        </p:nvSpPr>
        <p:spPr>
          <a:xfrm>
            <a:off x="4251960" y="13258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Numéro étape 2"/>
          <p:cNvSpPr/>
          <p:nvPr/>
        </p:nvSpPr>
        <p:spPr>
          <a:xfrm>
            <a:off x="45262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e étape 2"/>
          <p:cNvSpPr txBox="1"/>
          <p:nvPr/>
        </p:nvSpPr>
        <p:spPr>
          <a:xfrm>
            <a:off x="4526280" y="2286000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Première exécution de la CI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La branche n'est pas poussée : le workflow GitHub n'a jamais tourné.</a:t>
            </a:r>
          </a:p>
        </p:txBody>
      </p:sp>
      <p:sp>
        <p:nvSpPr>
          <p:cNvPr id="11" name="Repère 2"/>
          <p:cNvSpPr/>
          <p:nvPr/>
        </p:nvSpPr>
        <p:spPr>
          <a:xfrm>
            <a:off x="4526280" y="3337560"/>
            <a:ext cx="3154680" cy="41148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 w="12700">
            <a:solidFill>
              <a:srgbClr val="F1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Au premier envoi</a:t>
            </a:r>
          </a:p>
        </p:txBody>
      </p:sp>
      <p:sp>
        <p:nvSpPr>
          <p:cNvPr id="12" name="Étape 3"/>
          <p:cNvSpPr/>
          <p:nvPr/>
        </p:nvSpPr>
        <p:spPr>
          <a:xfrm>
            <a:off x="8138160" y="13258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Numéro étape 3"/>
          <p:cNvSpPr/>
          <p:nvPr/>
        </p:nvSpPr>
        <p:spPr>
          <a:xfrm>
            <a:off x="8412480" y="1554480"/>
            <a:ext cx="566928" cy="566928"/>
          </a:xfrm>
          <a:prstGeom prst="ellipse">
            <a:avLst/>
          </a:prstGeom>
          <a:solidFill>
            <a:srgbClr val="F1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e étape 3"/>
          <p:cNvSpPr txBox="1"/>
          <p:nvPr/>
        </p:nvSpPr>
        <p:spPr>
          <a:xfrm>
            <a:off x="8412480" y="2286000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fr-FR" sz="1600" b="1" dirty="0">
                <a:solidFill>
                  <a:srgbClr val="FFFFFF"/>
                </a:solidFill>
                <a:latin typeface="Arial"/>
                <a:cs typeface="Arial"/>
              </a:rPr>
              <a:t>Démarches ARTCI</a:t>
            </a:r>
          </a:p>
          <a:p>
            <a:pPr algn="l">
              <a:spcAft>
                <a:spcPts val="0"/>
              </a:spcAft>
            </a:pPr>
            <a:r>
              <a:rPr lang="fr-FR" sz="1250" b="0" dirty="0">
                <a:solidFill>
                  <a:srgbClr val="B3B3B3"/>
                </a:solidFill>
                <a:latin typeface="Arial"/>
                <a:cs typeface="Arial"/>
              </a:rPr>
              <a:t>Déclaration et registre des traitements : démarches administratives, hors du code.</a:t>
            </a:r>
          </a:p>
        </p:txBody>
      </p:sp>
      <p:sp>
        <p:nvSpPr>
          <p:cNvPr id="15" name="Repère 3"/>
          <p:cNvSpPr/>
          <p:nvPr/>
        </p:nvSpPr>
        <p:spPr>
          <a:xfrm>
            <a:off x="8412480" y="3337560"/>
            <a:ext cx="3154680" cy="41148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 w="12700">
            <a:solidFill>
              <a:srgbClr val="F1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150" b="1" dirty="0">
                <a:solidFill>
                  <a:srgbClr val="FFFFFF"/>
                </a:solidFill>
                <a:latin typeface="Arial"/>
                <a:cs typeface="Arial"/>
              </a:rPr>
              <a:t>Avant le premier client</a:t>
            </a:r>
          </a:p>
        </p:txBody>
      </p:sp>
      <p:sp>
        <p:nvSpPr>
          <p:cNvPr id="16" name="Carte Non fait"/>
          <p:cNvSpPr/>
          <p:nvPr/>
        </p:nvSpPr>
        <p:spPr>
          <a:xfrm>
            <a:off x="365760" y="4160520"/>
            <a:ext cx="5646420" cy="18745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arte Non fait titre"/>
          <p:cNvSpPr txBox="1"/>
          <p:nvPr/>
        </p:nvSpPr>
        <p:spPr>
          <a:xfrm>
            <a:off x="566928" y="432511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Ce qui n'est pas fait</a:t>
            </a:r>
          </a:p>
        </p:txBody>
      </p:sp>
      <p:sp>
        <p:nvSpPr>
          <p:cNvPr id="18" name="Carte Non fait texte"/>
          <p:cNvSpPr txBox="1"/>
          <p:nvPr/>
        </p:nvSpPr>
        <p:spPr>
          <a:xfrm>
            <a:off x="566928" y="4709160"/>
            <a:ext cx="5244084" cy="1161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Inscription d'une école en libre-service et abonnements.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Cantine, bibliothèque, infirmerie, cartes à QR code, stocks.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Export au format officiel DREN, listes BEPC et BAC.</a:t>
            </a:r>
          </a:p>
        </p:txBody>
      </p:sp>
      <p:sp>
        <p:nvSpPr>
          <p:cNvPr id="19" name="Carte Partiel"/>
          <p:cNvSpPr/>
          <p:nvPr/>
        </p:nvSpPr>
        <p:spPr>
          <a:xfrm>
            <a:off x="6195060" y="4160520"/>
            <a:ext cx="5646420" cy="18745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arte Partiel titre"/>
          <p:cNvSpPr txBox="1"/>
          <p:nvPr/>
        </p:nvSpPr>
        <p:spPr>
          <a:xfrm>
            <a:off x="6396228" y="4325112"/>
            <a:ext cx="52440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 dirty="0">
                <a:solidFill>
                  <a:srgbClr val="F16E00"/>
                </a:solidFill>
                <a:latin typeface="Arial"/>
                <a:cs typeface="Arial"/>
              </a:rPr>
              <a:t>Ce qui est partiel</a:t>
            </a:r>
          </a:p>
        </p:txBody>
      </p:sp>
      <p:sp>
        <p:nvSpPr>
          <p:cNvPr id="21" name="Carte Partiel texte"/>
          <p:cNvSpPr txBox="1"/>
          <p:nvPr/>
        </p:nvSpPr>
        <p:spPr>
          <a:xfrm>
            <a:off x="6396228" y="4709160"/>
            <a:ext cx="5244084" cy="1161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Anglais : menu et connexion seulement.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Pagination : les autres listes sont plafonnées à 2 000 lignes.</a:t>
            </a:r>
          </a:p>
          <a:p>
            <a:pPr marL="201168" indent="-201168" algn="l">
              <a:spcAft>
                <a:spcPts val="300"/>
              </a:spcAft>
              <a:buClr>
                <a:srgbClr val="F16E00"/>
              </a:buClr>
              <a:buFont typeface="Arial"/>
              <a:buChar char="■"/>
            </a:pPr>
            <a:r>
              <a:rPr lang="fr-FR" sz="1200" b="0" dirty="0">
                <a:solidFill>
                  <a:srgbClr val="FFFFFF"/>
                </a:solidFill>
                <a:latin typeface="Arial"/>
                <a:cs typeface="Arial"/>
              </a:rPr>
              <a:t>Derniers écrans : non essayés dans un navigateur.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919</Words>
  <Application>Microsoft Office PowerPoint</Application>
  <PresentationFormat>Grand écran</PresentationFormat>
  <Paragraphs>127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ERP — Documentation technique</dc:title>
  <dc:subject/>
  <dc:creator/>
  <cp:keywords/>
  <dc:description>generated using python-pptx</dc:description>
  <cp:lastModifiedBy>TRAORE Souleymane /DRSI/DE [OCI]</cp:lastModifiedBy>
  <cp:revision>6</cp:revision>
  <dcterms:created xsi:type="dcterms:W3CDTF">2013-01-27T09:14:16Z</dcterms:created>
  <dcterms:modified xsi:type="dcterms:W3CDTF">2026-09-23T15:30:16Z</dcterms:modified>
  <cp:category/>
</cp:coreProperties>
</file>